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1.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embeddedFontLst>
    <p:embeddedFont>
      <p:font typeface="Book Antiqua"/>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47" roundtripDataSignature="AMtx7mjx0JcpyUjkSRFghoM3V66SyAH5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2B881B-0BB4-4183-9B5B-D5C12FFFDFD1}">
  <a:tblStyle styleId="{6C2B881B-0BB4-4183-9B5B-D5C12FFFDFD1}" styleName="Table_0">
    <a:wholeTbl>
      <a:tcTxStyle b="off" i="off">
        <a:font>
          <a:latin typeface="Calibri"/>
          <a:ea typeface="Calibri"/>
          <a:cs typeface="Calibri"/>
        </a:font>
        <a:schemeClr val="dk1"/>
      </a:tcTxStyle>
      <a:tcStyle>
        <a:tcBdr>
          <a:left>
            <a:ln cap="flat" cmpd="sng" w="12700">
              <a:solidFill>
                <a:schemeClr val="accent6"/>
              </a:solidFill>
              <a:prstDash val="solid"/>
              <a:round/>
              <a:headEnd len="sm" w="sm" type="none"/>
              <a:tailEnd len="sm" w="sm" type="none"/>
            </a:ln>
          </a:left>
          <a:right>
            <a:ln cap="flat" cmpd="sng" w="12700">
              <a:solidFill>
                <a:schemeClr val="accent6"/>
              </a:solidFill>
              <a:prstDash val="solid"/>
              <a:round/>
              <a:headEnd len="sm" w="sm" type="none"/>
              <a:tailEnd len="sm" w="sm" type="none"/>
            </a:ln>
          </a:right>
          <a:top>
            <a:ln cap="flat" cmpd="sng" w="12700">
              <a:solidFill>
                <a:schemeClr val="accent6"/>
              </a:solidFill>
              <a:prstDash val="solid"/>
              <a:round/>
              <a:headEnd len="sm" w="sm" type="none"/>
              <a:tailEnd len="sm" w="sm" type="none"/>
            </a:ln>
          </a:top>
          <a:bottom>
            <a:ln cap="flat" cmpd="sng" w="12700">
              <a:solidFill>
                <a:schemeClr val="accent6"/>
              </a:solidFill>
              <a:prstDash val="solid"/>
              <a:round/>
              <a:headEnd len="sm" w="sm" type="none"/>
              <a:tailEnd len="sm" w="sm" type="none"/>
            </a:ln>
          </a:bottom>
          <a:insideH>
            <a:ln cap="flat" cmpd="sng" w="12700">
              <a:solidFill>
                <a:schemeClr val="accent6"/>
              </a:solidFill>
              <a:prstDash val="solid"/>
              <a:round/>
              <a:headEnd len="sm" w="sm" type="none"/>
              <a:tailEnd len="sm" w="sm" type="none"/>
            </a:ln>
          </a:insideH>
          <a:insideV>
            <a:ln cap="flat" cmpd="sng" w="12700">
              <a:solidFill>
                <a:schemeClr val="accent6"/>
              </a:solidFill>
              <a:prstDash val="solid"/>
              <a:round/>
              <a:headEnd len="sm" w="sm" type="none"/>
              <a:tailEnd len="sm" w="sm" type="none"/>
            </a:ln>
          </a:insideV>
        </a:tcBdr>
        <a:fill>
          <a:solidFill>
            <a:srgbClr val="FFFFFF">
              <a:alpha val="0"/>
            </a:srgbClr>
          </a:solidFill>
        </a:fill>
      </a:tcStyle>
    </a:wholeTbl>
    <a:band1H>
      <a:tcTxStyle/>
      <a:tcStyle>
        <a:fill>
          <a:solidFill>
            <a:schemeClr val="accent6">
              <a:alpha val="20000"/>
            </a:schemeClr>
          </a:solidFill>
        </a:fill>
      </a:tcStyle>
    </a:band1H>
    <a:band2H>
      <a:tcTxStyle/>
    </a:band2H>
    <a:band1V>
      <a:tcTxStyle/>
      <a:tcStyle>
        <a:fill>
          <a:solidFill>
            <a:schemeClr val="accent6">
              <a:alpha val="20000"/>
            </a:schemeClr>
          </a:solidFill>
        </a:fill>
      </a:tcStyle>
    </a:band1V>
    <a:band2V>
      <a:tcTxStyle/>
    </a:band2V>
    <a:lastCol>
      <a:tcTxStyle b="on" i="off"/>
    </a:lastCol>
    <a:firstCol>
      <a:tcTxStyle b="on" i="off"/>
    </a:firstCol>
    <a:lastRow>
      <a:tcTxStyle b="on" i="off"/>
      <a:tcStyle>
        <a:tcBdr>
          <a:top>
            <a:ln cap="flat" cmpd="sng" w="50800">
              <a:solidFill>
                <a:schemeClr val="accent6"/>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6"/>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24D7A5D4-4609-4B65-A47B-70446DB15927}" styleName="Table_1">
    <a:wholeTbl>
      <a:tcTxStyle b="off" i="off">
        <a:font>
          <a:latin typeface="Calibri"/>
          <a:ea typeface="Calibri"/>
          <a:cs typeface="Calibri"/>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12700">
              <a:solidFill>
                <a:schemeClr val="accent4"/>
              </a:solidFill>
              <a:prstDash val="solid"/>
              <a:round/>
              <a:headEnd len="sm" w="sm" type="none"/>
              <a:tailEnd len="sm" w="sm" type="none"/>
            </a:ln>
          </a:insideV>
        </a:tcBdr>
        <a:fill>
          <a:solidFill>
            <a:srgbClr val="FFFFFF">
              <a:alpha val="0"/>
            </a:srgbClr>
          </a:solidFill>
        </a:fill>
      </a:tcStyle>
    </a:wholeTbl>
    <a:band1H>
      <a:tcTxStyle/>
      <a:tcStyle>
        <a:fill>
          <a:solidFill>
            <a:schemeClr val="accent4">
              <a:alpha val="20000"/>
            </a:schemeClr>
          </a:solidFill>
        </a:fill>
      </a:tcStyle>
    </a:band1H>
    <a:band2H>
      <a:tcTxStyle/>
    </a:band2H>
    <a:band1V>
      <a:tcTxStyle/>
      <a:tcStyle>
        <a:fill>
          <a:solidFill>
            <a:schemeClr val="accent4">
              <a:alpha val="20000"/>
            </a:schemeClr>
          </a:solidFill>
        </a:fill>
      </a:tcStyle>
    </a:band1V>
    <a:band2V>
      <a:tcTxStyle/>
    </a:band2V>
    <a:lastCol>
      <a:tcTxStyle b="on" i="off"/>
    </a:lastCol>
    <a:firstCol>
      <a:tcTxStyle b="on" i="off"/>
    </a:firstCol>
    <a:lastRow>
      <a:tcTxStyle b="on" i="off"/>
      <a:tcStyle>
        <a:tcBdr>
          <a:top>
            <a:ln cap="flat" cmpd="sng" w="50800">
              <a:solidFill>
                <a:schemeClr val="accent4"/>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4"/>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341B92FB-D494-4F52-A337-2EEE2A44E116}" styleName="Table_2">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5">
              <a:alpha val="20000"/>
            </a:schemeClr>
          </a:solidFill>
        </a:fill>
      </a:tcStyle>
    </a:band1H>
    <a:band2H>
      <a:tcTxStyle/>
    </a:band2H>
    <a:band1V>
      <a:tcTxStyle/>
      <a:tcStyle>
        <a:fill>
          <a:solidFill>
            <a:schemeClr val="accent5">
              <a:alpha val="20000"/>
            </a:schemeClr>
          </a:solidFill>
        </a:fill>
      </a:tcStyle>
    </a:band1V>
    <a:band2V>
      <a:tcTxStyle/>
    </a:band2V>
    <a:lastCol>
      <a:tcTxStyle b="on" i="off"/>
    </a:lastCol>
    <a:firstCol>
      <a:tcTxStyle b="on" i="off"/>
    </a:firstCol>
    <a:lastRow>
      <a:tcTxStyle b="on" i="off"/>
      <a:tcStyle>
        <a:tcBdr>
          <a:top>
            <a:ln cap="flat" cmpd="sng" w="12700">
              <a:solidFill>
                <a:schemeClr val="accent5"/>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5"/>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BookAntiqua-bold.fntdata"/><Relationship Id="rId21" Type="http://schemas.openxmlformats.org/officeDocument/2006/relationships/slide" Target="slides/slide16.xml"/><Relationship Id="rId43" Type="http://schemas.openxmlformats.org/officeDocument/2006/relationships/font" Target="fonts/BookAntiqua-regular.fntdata"/><Relationship Id="rId24" Type="http://schemas.openxmlformats.org/officeDocument/2006/relationships/slide" Target="slides/slide19.xml"/><Relationship Id="rId46" Type="http://schemas.openxmlformats.org/officeDocument/2006/relationships/font" Target="fonts/BookAntiqua-boldItalic.fntdata"/><Relationship Id="rId23" Type="http://schemas.openxmlformats.org/officeDocument/2006/relationships/slide" Target="slides/slide18.xml"/><Relationship Id="rId45" Type="http://schemas.openxmlformats.org/officeDocument/2006/relationships/font" Target="fonts/BookAntiqua-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sz="1800" dirty="0">
                <a:solidFill>
                  <a:sysClr val="windowText" lastClr="000000"/>
                </a:solidFill>
                <a:latin typeface="Times New Roman" panose="02020603050405020304" pitchFamily="18" charset="0"/>
                <a:cs typeface="Times New Roman" panose="02020603050405020304" pitchFamily="18" charset="0"/>
              </a:rPr>
              <a:t>Deep Learning Models on Amharic WSD Performance</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LSTM</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errBars>
            <c:errBarType val="both"/>
            <c:errValType val="stdErr"/>
            <c:noEndCap val="0"/>
            <c:spPr>
              <a:noFill/>
              <a:ln w="9525">
                <a:solidFill>
                  <a:schemeClr val="tx2">
                    <a:lumMod val="75000"/>
                    <a:lumOff val="25000"/>
                  </a:schemeClr>
                </a:solidFill>
                <a:round/>
              </a:ln>
              <a:effectLst/>
            </c:spPr>
          </c:errBars>
          <c:cat>
            <c:strRef>
              <c:f>Sheet1!$A$2:$A$4</c:f>
              <c:strCache>
                <c:ptCount val="3"/>
                <c:pt idx="0">
                  <c:v>Experiment 1</c:v>
                </c:pt>
                <c:pt idx="1">
                  <c:v>Experiment 2</c:v>
                </c:pt>
                <c:pt idx="2">
                  <c:v>Experiment 3</c:v>
                </c:pt>
              </c:strCache>
            </c:strRef>
          </c:cat>
          <c:val>
            <c:numRef>
              <c:f>Sheet1!$B$2:$B$4</c:f>
              <c:numCache>
                <c:formatCode>General</c:formatCode>
                <c:ptCount val="3"/>
                <c:pt idx="0">
                  <c:v>88</c:v>
                </c:pt>
                <c:pt idx="1">
                  <c:v>82</c:v>
                </c:pt>
                <c:pt idx="2">
                  <c:v>94</c:v>
                </c:pt>
              </c:numCache>
            </c:numRef>
          </c:val>
          <c:extLst>
            <c:ext xmlns:c16="http://schemas.microsoft.com/office/drawing/2014/chart" uri="{C3380CC4-5D6E-409C-BE32-E72D297353CC}">
              <c16:uniqueId val="{00000000-6E28-49B5-AF97-5F2C01A45CCF}"/>
            </c:ext>
          </c:extLst>
        </c:ser>
        <c:ser>
          <c:idx val="1"/>
          <c:order val="1"/>
          <c:tx>
            <c:strRef>
              <c:f>Sheet1!$C$1</c:f>
              <c:strCache>
                <c:ptCount val="1"/>
                <c:pt idx="0">
                  <c:v>CNN</c:v>
                </c:pt>
              </c:strCache>
            </c:strRef>
          </c:tx>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errBars>
            <c:errBarType val="both"/>
            <c:errValType val="stdErr"/>
            <c:noEndCap val="0"/>
            <c:spPr>
              <a:noFill/>
              <a:ln w="9525">
                <a:solidFill>
                  <a:schemeClr val="tx2">
                    <a:lumMod val="75000"/>
                    <a:lumOff val="25000"/>
                  </a:schemeClr>
                </a:solidFill>
                <a:round/>
              </a:ln>
              <a:effectLst/>
            </c:spPr>
          </c:errBars>
          <c:cat>
            <c:strRef>
              <c:f>Sheet1!$A$2:$A$4</c:f>
              <c:strCache>
                <c:ptCount val="3"/>
                <c:pt idx="0">
                  <c:v>Experiment 1</c:v>
                </c:pt>
                <c:pt idx="1">
                  <c:v>Experiment 2</c:v>
                </c:pt>
                <c:pt idx="2">
                  <c:v>Experiment 3</c:v>
                </c:pt>
              </c:strCache>
            </c:strRef>
          </c:cat>
          <c:val>
            <c:numRef>
              <c:f>Sheet1!$C$2:$C$4</c:f>
              <c:numCache>
                <c:formatCode>General</c:formatCode>
                <c:ptCount val="3"/>
                <c:pt idx="0">
                  <c:v>88</c:v>
                </c:pt>
                <c:pt idx="1">
                  <c:v>88</c:v>
                </c:pt>
                <c:pt idx="2">
                  <c:v>91</c:v>
                </c:pt>
              </c:numCache>
            </c:numRef>
          </c:val>
          <c:extLst>
            <c:ext xmlns:c16="http://schemas.microsoft.com/office/drawing/2014/chart" uri="{C3380CC4-5D6E-409C-BE32-E72D297353CC}">
              <c16:uniqueId val="{00000001-6E28-49B5-AF97-5F2C01A45CCF}"/>
            </c:ext>
          </c:extLst>
        </c:ser>
        <c:ser>
          <c:idx val="2"/>
          <c:order val="2"/>
          <c:tx>
            <c:strRef>
              <c:f>Sheet1!$D$1</c:f>
              <c:strCache>
                <c:ptCount val="1"/>
                <c:pt idx="0">
                  <c:v>Bi-LSTM</c:v>
                </c:pt>
              </c:strCache>
            </c:strRef>
          </c:tx>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errBars>
            <c:errBarType val="both"/>
            <c:errValType val="stdErr"/>
            <c:noEndCap val="0"/>
            <c:spPr>
              <a:noFill/>
              <a:ln w="9525">
                <a:solidFill>
                  <a:schemeClr val="tx2">
                    <a:lumMod val="75000"/>
                    <a:lumOff val="25000"/>
                  </a:schemeClr>
                </a:solidFill>
                <a:round/>
              </a:ln>
              <a:effectLst/>
            </c:spPr>
          </c:errBars>
          <c:cat>
            <c:strRef>
              <c:f>Sheet1!$A$2:$A$4</c:f>
              <c:strCache>
                <c:ptCount val="3"/>
                <c:pt idx="0">
                  <c:v>Experiment 1</c:v>
                </c:pt>
                <c:pt idx="1">
                  <c:v>Experiment 2</c:v>
                </c:pt>
                <c:pt idx="2">
                  <c:v>Experiment 3</c:v>
                </c:pt>
              </c:strCache>
            </c:strRef>
          </c:cat>
          <c:val>
            <c:numRef>
              <c:f>Sheet1!$D$2:$D$4</c:f>
              <c:numCache>
                <c:formatCode>General</c:formatCode>
                <c:ptCount val="3"/>
                <c:pt idx="0">
                  <c:v>94</c:v>
                </c:pt>
                <c:pt idx="1">
                  <c:v>89</c:v>
                </c:pt>
                <c:pt idx="2">
                  <c:v>96</c:v>
                </c:pt>
              </c:numCache>
            </c:numRef>
          </c:val>
          <c:extLst>
            <c:ext xmlns:c16="http://schemas.microsoft.com/office/drawing/2014/chart" uri="{C3380CC4-5D6E-409C-BE32-E72D297353CC}">
              <c16:uniqueId val="{00000002-6E28-49B5-AF97-5F2C01A45CCF}"/>
            </c:ext>
          </c:extLst>
        </c:ser>
        <c:dLbls>
          <c:dLblPos val="outEnd"/>
          <c:showLegendKey val="0"/>
          <c:showVal val="1"/>
          <c:showCatName val="0"/>
          <c:showSerName val="0"/>
          <c:showPercent val="0"/>
          <c:showBubbleSize val="0"/>
        </c:dLbls>
        <c:gapWidth val="100"/>
        <c:overlap val="-24"/>
        <c:axId val="2118060384"/>
        <c:axId val="2118060800"/>
      </c:barChart>
      <c:catAx>
        <c:axId val="211806038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2118060800"/>
        <c:crosses val="autoZero"/>
        <c:auto val="1"/>
        <c:lblAlgn val="ctr"/>
        <c:lblOffset val="100"/>
        <c:noMultiLvlLbl val="0"/>
      </c:catAx>
      <c:valAx>
        <c:axId val="2118060800"/>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2118060384"/>
        <c:crosses val="autoZero"/>
        <c:crossBetween val="between"/>
      </c:valAx>
      <c:dTable>
        <c:showHorzBorder val="1"/>
        <c:showVertBorder val="1"/>
        <c:showOutline val="1"/>
        <c:showKeys val="1"/>
        <c:spPr>
          <a:noFill/>
          <a:ln w="9525">
            <a:solidFill>
              <a:schemeClr val="tx2">
                <a:lumMod val="15000"/>
                <a:lumOff val="85000"/>
              </a:schemeClr>
            </a:solidFill>
          </a:ln>
          <a:effectLst/>
        </c:spPr>
        <c:txPr>
          <a:bodyPr rot="0" spcFirstLastPara="1" vertOverflow="ellipsis" vert="horz" wrap="square" anchor="ctr" anchorCtr="1"/>
          <a:lstStyle/>
          <a:p>
            <a:pPr rtl="0">
              <a:defRPr sz="900" b="0" i="0" u="none" strike="noStrike" kern="1200" baseline="0">
                <a:solidFill>
                  <a:schemeClr val="tx2"/>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solidFill>
        <a:schemeClr val="tx2">
          <a:lumMod val="15000"/>
          <a:lumOff val="85000"/>
        </a:schemeClr>
      </a:solid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7"/>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4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hart" Target="../charts/char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idx="1" type="body"/>
          </p:nvPr>
        </p:nvSpPr>
        <p:spPr>
          <a:xfrm>
            <a:off x="339213" y="309716"/>
            <a:ext cx="11474245" cy="6430297"/>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89" name="Google Shape;89;p1"/>
          <p:cNvSpPr txBox="1"/>
          <p:nvPr/>
        </p:nvSpPr>
        <p:spPr>
          <a:xfrm>
            <a:off x="339213" y="591557"/>
            <a:ext cx="11513574" cy="63673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chemeClr val="dk1"/>
              </a:buClr>
              <a:buSzPts val="1800"/>
              <a:buFont typeface="Calibri"/>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BAHIR DAR UNIVERSITY</a:t>
            </a:r>
            <a:endParaRPr b="1" i="0" sz="14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BAHIR DAR INSTITUTE OF TECHNOLOGY</a:t>
            </a:r>
            <a:endParaRPr b="1" i="0" sz="14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SCHOOL OF RESEARCH AND GRADUATE STUDIES</a:t>
            </a:r>
            <a:endParaRPr/>
          </a:p>
          <a:p>
            <a:pPr indent="0" lvl="0" marL="0" marR="0" rtl="0" algn="ctr">
              <a:lnSpc>
                <a:spcPct val="15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FACULTY OF COMPUTING </a:t>
            </a:r>
            <a:endParaRPr/>
          </a:p>
          <a:p>
            <a:pPr indent="0" lvl="0" marL="0" marR="0" rtl="0" algn="ctr">
              <a:lnSpc>
                <a:spcPct val="150000"/>
              </a:lnSpc>
              <a:spcBef>
                <a:spcPts val="0"/>
              </a:spcBef>
              <a:spcAft>
                <a:spcPts val="0"/>
              </a:spcAft>
              <a:buClr>
                <a:srgbClr val="00B0F0"/>
              </a:buClr>
              <a:buSzPts val="2400"/>
              <a:buFont typeface="Times New Roman"/>
              <a:buNone/>
            </a:pPr>
            <a:r>
              <a:rPr b="1" i="0" lang="en-US" sz="2400" u="none" cap="none" strike="noStrike">
                <a:solidFill>
                  <a:srgbClr val="00B0F0"/>
                </a:solidFill>
                <a:latin typeface="Times New Roman"/>
                <a:ea typeface="Times New Roman"/>
                <a:cs typeface="Times New Roman"/>
                <a:sym typeface="Times New Roman"/>
              </a:rPr>
              <a:t>Automatic Amharic Word Sense Disambiguation at Sentence Level by Deep Learning Approach </a:t>
            </a:r>
            <a:endParaRPr b="1" i="0" sz="1800" u="none" cap="none" strike="noStrike">
              <a:solidFill>
                <a:srgbClr val="00B0F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MSc Thesis Presentation </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By </a:t>
            </a:r>
            <a:endParaRPr b="0" i="0" sz="16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B0F0"/>
              </a:buClr>
              <a:buSzPts val="1800"/>
              <a:buFont typeface="Times New Roman"/>
              <a:buNone/>
            </a:pPr>
            <a:r>
              <a:rPr b="1" i="0" lang="en-US" sz="1800" u="none" cap="none" strike="noStrike">
                <a:solidFill>
                  <a:srgbClr val="00B0F0"/>
                </a:solidFill>
                <a:latin typeface="Times New Roman"/>
                <a:ea typeface="Times New Roman"/>
                <a:cs typeface="Times New Roman"/>
                <a:sym typeface="Times New Roman"/>
              </a:rPr>
              <a:t>Dereje Senay </a:t>
            </a:r>
            <a:endParaRPr b="1" i="0" sz="1600" u="none" cap="none" strike="noStrike">
              <a:solidFill>
                <a:srgbClr val="00B0F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Advisor : </a:t>
            </a:r>
            <a:r>
              <a:rPr b="1" i="1" lang="en-US" sz="1800" u="none" cap="none" strike="noStrike">
                <a:solidFill>
                  <a:schemeClr val="dk1"/>
                </a:solidFill>
                <a:latin typeface="Times New Roman"/>
                <a:ea typeface="Times New Roman"/>
                <a:cs typeface="Times New Roman"/>
                <a:sym typeface="Times New Roman"/>
              </a:rPr>
              <a:t>Tesfa Tegegne (PhD)</a:t>
            </a:r>
            <a:endParaRPr b="0" i="1" sz="1600" u="none" cap="none" strike="noStrike">
              <a:solidFill>
                <a:schemeClr val="dk1"/>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Bahir Dar, Ethiopia</a:t>
            </a:r>
            <a:endParaRPr b="0" i="0" sz="1600" u="none" cap="none" strike="noStrike">
              <a:solidFill>
                <a:schemeClr val="dk1"/>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June  2021</a:t>
            </a:r>
            <a:endParaRPr/>
          </a:p>
        </p:txBody>
      </p:sp>
      <p:pic>
        <p:nvPicPr>
          <p:cNvPr id="90" name="Google Shape;90;p1"/>
          <p:cNvPicPr preferRelativeResize="0"/>
          <p:nvPr/>
        </p:nvPicPr>
        <p:blipFill rotWithShape="1">
          <a:blip r:embed="rId3">
            <a:alphaModFix/>
          </a:blip>
          <a:srcRect b="0" l="0" r="0" t="0"/>
          <a:stretch/>
        </p:blipFill>
        <p:spPr>
          <a:xfrm>
            <a:off x="5247249" y="330591"/>
            <a:ext cx="1392702" cy="1287885"/>
          </a:xfrm>
          <a:prstGeom prst="rect">
            <a:avLst/>
          </a:prstGeom>
          <a:noFill/>
          <a:ln>
            <a:noFill/>
          </a:ln>
        </p:spPr>
      </p:pic>
      <p:sp>
        <p:nvSpPr>
          <p:cNvPr id="91" name="Google Shape;91;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1400"/>
              <a:t>6/21/2021</a:t>
            </a:r>
            <a:endParaRPr b="1"/>
          </a:p>
        </p:txBody>
      </p:sp>
      <p:sp>
        <p:nvSpPr>
          <p:cNvPr id="92" name="Google Shape;92;p1"/>
          <p:cNvSpPr txBox="1"/>
          <p:nvPr>
            <p:ph idx="12" type="sldNum"/>
          </p:nvPr>
        </p:nvSpPr>
        <p:spPr>
          <a:xfrm>
            <a:off x="8034186" y="6374888"/>
            <a:ext cx="1152832"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838200" y="660093"/>
            <a:ext cx="10515600" cy="7999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4400"/>
              <a:buFont typeface="Arial"/>
              <a:buNone/>
            </a:pPr>
            <a:r>
              <a:rPr lang="en-US">
                <a:solidFill>
                  <a:srgbClr val="00B0F0"/>
                </a:solidFill>
                <a:latin typeface="Arial"/>
                <a:ea typeface="Arial"/>
                <a:cs typeface="Arial"/>
                <a:sym typeface="Arial"/>
              </a:rPr>
              <a:t>Outlines</a:t>
            </a:r>
            <a:r>
              <a:rPr lang="en-US">
                <a:latin typeface="Arial"/>
                <a:ea typeface="Arial"/>
                <a:cs typeface="Arial"/>
                <a:sym typeface="Arial"/>
              </a:rPr>
              <a:t> </a:t>
            </a:r>
            <a:endParaRPr/>
          </a:p>
        </p:txBody>
      </p:sp>
      <p:sp>
        <p:nvSpPr>
          <p:cNvPr id="98" name="Google Shape;98;p2"/>
          <p:cNvSpPr txBox="1"/>
          <p:nvPr>
            <p:ph idx="1" type="body"/>
          </p:nvPr>
        </p:nvSpPr>
        <p:spPr>
          <a:xfrm>
            <a:off x="1096296" y="1460091"/>
            <a:ext cx="10515599" cy="4737816"/>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Font typeface="Noto Sans Symbols"/>
              <a:buChar char="⮚"/>
            </a:pPr>
            <a:r>
              <a:rPr lang="en-US">
                <a:latin typeface="Arial"/>
                <a:ea typeface="Arial"/>
                <a:cs typeface="Arial"/>
                <a:sym typeface="Arial"/>
              </a:rPr>
              <a:t>Introduction </a:t>
            </a:r>
            <a:endParaRPr/>
          </a:p>
          <a:p>
            <a:pPr indent="-228600" lvl="0" marL="228600" rtl="0" algn="l">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Statement of the Problem</a:t>
            </a:r>
            <a:endParaRPr/>
          </a:p>
          <a:p>
            <a:pPr indent="-228600" lvl="0" marL="228600" rtl="0" algn="l">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Related Work</a:t>
            </a:r>
            <a:endParaRPr/>
          </a:p>
          <a:p>
            <a:pPr indent="-228600" lvl="0" marL="228600" rtl="0" algn="l">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Design of the System </a:t>
            </a:r>
            <a:endParaRPr/>
          </a:p>
          <a:p>
            <a:pPr indent="-228600" lvl="0" marL="228600" rtl="0" algn="l">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Experiment, Result and Discussion </a:t>
            </a:r>
            <a:endParaRPr/>
          </a:p>
          <a:p>
            <a:pPr indent="-228600" lvl="0" marL="228600" rtl="0" algn="l">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Conclusion and Future Work </a:t>
            </a:r>
            <a:endParaRPr/>
          </a:p>
        </p:txBody>
      </p:sp>
      <p:sp>
        <p:nvSpPr>
          <p:cNvPr id="99" name="Google Shape;9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6/21/2021</a:t>
            </a:r>
            <a:endParaRPr b="1"/>
          </a:p>
        </p:txBody>
      </p:sp>
      <p:sp>
        <p:nvSpPr>
          <p:cNvPr id="100" name="Google Shape;100;p2"/>
          <p:cNvSpPr txBox="1"/>
          <p:nvPr>
            <p:ph idx="12" type="sldNum"/>
          </p:nvPr>
        </p:nvSpPr>
        <p:spPr>
          <a:xfrm>
            <a:off x="10176386" y="6356350"/>
            <a:ext cx="1177413"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idx="1" type="body"/>
          </p:nvPr>
        </p:nvSpPr>
        <p:spPr>
          <a:xfrm>
            <a:off x="300251" y="567348"/>
            <a:ext cx="11629152" cy="5723304"/>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latin typeface="Times New Roman"/>
                <a:ea typeface="Times New Roman"/>
                <a:cs typeface="Times New Roman"/>
                <a:sym typeface="Times New Roman"/>
              </a:rPr>
              <a:t>__________________________________________________________________________</a:t>
            </a:r>
            <a:endParaRPr/>
          </a:p>
          <a:p>
            <a:pPr indent="-228600" lvl="0" marL="228600" rtl="0" algn="l">
              <a:lnSpc>
                <a:spcPct val="150000"/>
              </a:lnSpc>
              <a:spcBef>
                <a:spcPts val="1000"/>
              </a:spcBef>
              <a:spcAft>
                <a:spcPts val="0"/>
              </a:spcAft>
              <a:buClr>
                <a:srgbClr val="00B050"/>
              </a:buClr>
              <a:buSzPts val="2400"/>
              <a:buFont typeface="Noto Sans Symbols"/>
              <a:buChar char="▪"/>
            </a:pPr>
            <a:r>
              <a:rPr lang="en-US" sz="2400">
                <a:latin typeface="Times New Roman"/>
                <a:ea typeface="Times New Roman"/>
                <a:cs typeface="Times New Roman"/>
                <a:sym typeface="Times New Roman"/>
              </a:rPr>
              <a:t>NLP is the essential part of computer science in which computational linguistics and machine learning are broadly used. </a:t>
            </a:r>
            <a:endParaRPr/>
          </a:p>
          <a:p>
            <a:pPr indent="-228600" lvl="0" marL="228600" rtl="0" algn="l">
              <a:lnSpc>
                <a:spcPct val="150000"/>
              </a:lnSpc>
              <a:spcBef>
                <a:spcPts val="1000"/>
              </a:spcBef>
              <a:spcAft>
                <a:spcPts val="0"/>
              </a:spcAft>
              <a:buClr>
                <a:srgbClr val="00B050"/>
              </a:buClr>
              <a:buSzPts val="2400"/>
              <a:buFont typeface="Noto Sans Symbols"/>
              <a:buChar char="▪"/>
            </a:pPr>
            <a:r>
              <a:rPr lang="en-US" sz="2400">
                <a:latin typeface="Times New Roman"/>
                <a:ea typeface="Times New Roman"/>
                <a:cs typeface="Times New Roman"/>
                <a:sym typeface="Times New Roman"/>
              </a:rPr>
              <a:t>The Machine learns the syntax and semantics of human language; process and it gives the output to the user.</a:t>
            </a:r>
            <a:endParaRPr/>
          </a:p>
          <a:p>
            <a:pPr indent="-228600" lvl="0" marL="228600" rtl="0" algn="l">
              <a:lnSpc>
                <a:spcPct val="150000"/>
              </a:lnSpc>
              <a:spcBef>
                <a:spcPts val="1000"/>
              </a:spcBef>
              <a:spcAft>
                <a:spcPts val="0"/>
              </a:spcAft>
              <a:buClr>
                <a:srgbClr val="00B050"/>
              </a:buClr>
              <a:buSzPts val="2400"/>
              <a:buFont typeface="Noto Sans Symbols"/>
              <a:buChar char="▪"/>
            </a:pPr>
            <a:r>
              <a:rPr lang="en-US" sz="2400">
                <a:latin typeface="Times New Roman"/>
                <a:ea typeface="Times New Roman"/>
                <a:cs typeface="Times New Roman"/>
                <a:sym typeface="Times New Roman"/>
              </a:rPr>
              <a:t>The task of identifying which sense of a word’s meaning is used in a sentence when the word has multiple meanings known as WSD.</a:t>
            </a:r>
            <a:endParaRPr/>
          </a:p>
          <a:p>
            <a:pPr indent="-228600" lvl="0" marL="228600" rtl="0" algn="l">
              <a:lnSpc>
                <a:spcPct val="150000"/>
              </a:lnSpc>
              <a:spcBef>
                <a:spcPts val="1000"/>
              </a:spcBef>
              <a:spcAft>
                <a:spcPts val="0"/>
              </a:spcAft>
              <a:buClr>
                <a:srgbClr val="00B050"/>
              </a:buClr>
              <a:buSzPts val="2400"/>
              <a:buFont typeface="Noto Sans Symbols"/>
              <a:buChar char="▪"/>
            </a:pPr>
            <a:r>
              <a:rPr lang="en-US" sz="2400">
                <a:latin typeface="Times New Roman"/>
                <a:ea typeface="Times New Roman"/>
                <a:cs typeface="Times New Roman"/>
                <a:sym typeface="Times New Roman"/>
              </a:rPr>
              <a:t>WSD is the task of identifying the right sense or meaning of the word or phrase with respect to its context. </a:t>
            </a:r>
            <a:endParaRPr/>
          </a:p>
          <a:p>
            <a:pPr indent="0" lvl="0" marL="0" rtl="0" algn="l">
              <a:lnSpc>
                <a:spcPct val="150000"/>
              </a:lnSpc>
              <a:spcBef>
                <a:spcPts val="1000"/>
              </a:spcBef>
              <a:spcAft>
                <a:spcPts val="0"/>
              </a:spcAft>
              <a:buClr>
                <a:schemeClr val="dk1"/>
              </a:buClr>
              <a:buSzPts val="2400"/>
              <a:buNone/>
            </a:pPr>
            <a:r>
              <a:t/>
            </a:r>
            <a:endParaRPr sz="2400"/>
          </a:p>
        </p:txBody>
      </p:sp>
      <p:sp>
        <p:nvSpPr>
          <p:cNvPr id="106" name="Google Shape;10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07" name="Google Shape;107;p3"/>
          <p:cNvSpPr txBox="1"/>
          <p:nvPr>
            <p:ph idx="12" type="sldNum"/>
          </p:nvPr>
        </p:nvSpPr>
        <p:spPr>
          <a:xfrm>
            <a:off x="10279626" y="6356350"/>
            <a:ext cx="1074173"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800">
              <a:solidFill>
                <a:srgbClr val="FF0000"/>
              </a:solidFill>
              <a:latin typeface="Times New Roman"/>
              <a:ea typeface="Times New Roman"/>
              <a:cs typeface="Times New Roman"/>
              <a:sym typeface="Times New Roman"/>
            </a:endParaRPr>
          </a:p>
        </p:txBody>
      </p:sp>
      <p:sp>
        <p:nvSpPr>
          <p:cNvPr id="108" name="Google Shape;108;p3"/>
          <p:cNvSpPr txBox="1"/>
          <p:nvPr>
            <p:ph type="title"/>
          </p:nvPr>
        </p:nvSpPr>
        <p:spPr>
          <a:xfrm>
            <a:off x="262597" y="267921"/>
            <a:ext cx="11053549" cy="5492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4000">
                <a:solidFill>
                  <a:srgbClr val="00B0F0"/>
                </a:solidFill>
                <a:latin typeface="Arial"/>
                <a:ea typeface="Arial"/>
                <a:cs typeface="Arial"/>
                <a:sym typeface="Arial"/>
              </a:rPr>
              <a:t>Introduction</a:t>
            </a:r>
            <a:endParaRPr b="1" sz="3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14" name="Google Shape;114;p4"/>
          <p:cNvSpPr txBox="1"/>
          <p:nvPr>
            <p:ph idx="12" type="sldNum"/>
          </p:nvPr>
        </p:nvSpPr>
        <p:spPr>
          <a:xfrm>
            <a:off x="10227212" y="6356350"/>
            <a:ext cx="1126588"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
        <p:nvSpPr>
          <p:cNvPr id="115" name="Google Shape;115;p4"/>
          <p:cNvSpPr txBox="1"/>
          <p:nvPr>
            <p:ph type="title"/>
          </p:nvPr>
        </p:nvSpPr>
        <p:spPr>
          <a:xfrm>
            <a:off x="182199" y="662952"/>
            <a:ext cx="11675504" cy="5005695"/>
          </a:xfrm>
          <a:prstGeom prst="rect">
            <a:avLst/>
          </a:prstGeom>
          <a:noFill/>
          <a:ln>
            <a:noFill/>
          </a:ln>
        </p:spPr>
        <p:txBody>
          <a:bodyPr anchorCtr="0" anchor="ctr" bIns="45700" lIns="91425" spcFirstLastPara="1" rIns="91425" wrap="square" tIns="45700">
            <a:normAutofit fontScale="90000"/>
          </a:bodyPr>
          <a:lstStyle/>
          <a:p>
            <a:pPr indent="-457200" lvl="0" marL="457200" rtl="0" algn="l">
              <a:lnSpc>
                <a:spcPct val="150000"/>
              </a:lnSpc>
              <a:spcBef>
                <a:spcPts val="0"/>
              </a:spcBef>
              <a:spcAft>
                <a:spcPts val="0"/>
              </a:spcAft>
              <a:buClr>
                <a:srgbClr val="00B050"/>
              </a:buClr>
              <a:buSzPct val="100000"/>
              <a:buFont typeface="Noto Sans Symbols"/>
              <a:buChar char="▪"/>
            </a:pPr>
            <a:r>
              <a:rPr lang="en-US" sz="2700">
                <a:latin typeface="Times New Roman"/>
                <a:ea typeface="Times New Roman"/>
                <a:cs typeface="Times New Roman"/>
                <a:sym typeface="Times New Roman"/>
              </a:rPr>
              <a:t>Amharic is a member of the Semitic language in the part of Afro-Asiatic family like that of Arabic and  Hebrew </a:t>
            </a:r>
            <a:r>
              <a:rPr lang="en-US" sz="2800">
                <a:latin typeface="Times New Roman"/>
                <a:ea typeface="Times New Roman"/>
                <a:cs typeface="Times New Roman"/>
                <a:sym typeface="Times New Roman"/>
              </a:rPr>
              <a:t>its script inherited from Geez, its word size increase day to day.</a:t>
            </a:r>
            <a:br>
              <a:rPr lang="en-US" sz="2800">
                <a:latin typeface="Times New Roman"/>
                <a:ea typeface="Times New Roman"/>
                <a:cs typeface="Times New Roman"/>
                <a:sym typeface="Times New Roman"/>
              </a:rPr>
            </a:br>
            <a:r>
              <a:rPr lang="en-US" sz="2700">
                <a:latin typeface="Times New Roman"/>
                <a:ea typeface="Times New Roman"/>
                <a:cs typeface="Times New Roman"/>
                <a:sym typeface="Times New Roman"/>
              </a:rPr>
              <a:t>Amharic has 34 base characters, resulting in a total of 238 = (7*33) Amharic characters.</a:t>
            </a:r>
            <a:br>
              <a:rPr lang="en-US" sz="2700">
                <a:latin typeface="Times New Roman"/>
                <a:ea typeface="Times New Roman"/>
                <a:cs typeface="Times New Roman"/>
                <a:sym typeface="Times New Roman"/>
              </a:rPr>
            </a:br>
            <a:r>
              <a:rPr lang="en-US" sz="2700">
                <a:latin typeface="Times New Roman"/>
                <a:ea typeface="Times New Roman"/>
                <a:cs typeface="Times New Roman"/>
                <a:sym typeface="Times New Roman"/>
              </a:rPr>
              <a:t>It has complex morphological structure with SV/OV/SOV/OSV grammatical structure. </a:t>
            </a:r>
            <a:br>
              <a:rPr lang="en-US" sz="2700">
                <a:latin typeface="Times New Roman"/>
                <a:ea typeface="Times New Roman"/>
                <a:cs typeface="Times New Roman"/>
                <a:sym typeface="Times New Roman"/>
              </a:rPr>
            </a:br>
            <a:r>
              <a:rPr b="1" lang="en-US" sz="2700">
                <a:latin typeface="Times New Roman"/>
                <a:ea typeface="Times New Roman"/>
                <a:cs typeface="Times New Roman"/>
                <a:sym typeface="Times New Roman"/>
              </a:rPr>
              <a:t>Example ልጁ ወደቀ/      </a:t>
            </a:r>
            <a:r>
              <a:rPr b="1" lang="en-US" sz="2700">
                <a:solidFill>
                  <a:srgbClr val="FF0000"/>
                </a:solidFill>
                <a:latin typeface="Times New Roman"/>
                <a:ea typeface="Times New Roman"/>
                <a:cs typeface="Times New Roman"/>
                <a:sym typeface="Times New Roman"/>
              </a:rPr>
              <a:t>lij </a:t>
            </a:r>
            <a:r>
              <a:rPr b="1" lang="en-US" sz="2700">
                <a:solidFill>
                  <a:srgbClr val="00B050"/>
                </a:solidFill>
                <a:latin typeface="Times New Roman"/>
                <a:ea typeface="Times New Roman"/>
                <a:cs typeface="Times New Roman"/>
                <a:sym typeface="Times New Roman"/>
              </a:rPr>
              <a:t>u</a:t>
            </a:r>
            <a:r>
              <a:rPr b="1" lang="en-US" sz="2700">
                <a:latin typeface="Times New Roman"/>
                <a:ea typeface="Times New Roman"/>
                <a:cs typeface="Times New Roman"/>
                <a:sym typeface="Times New Roman"/>
              </a:rPr>
              <a:t> </a:t>
            </a:r>
            <a:r>
              <a:rPr b="1" lang="en-US" sz="2700">
                <a:solidFill>
                  <a:srgbClr val="00B0F0"/>
                </a:solidFill>
                <a:latin typeface="Times New Roman"/>
                <a:ea typeface="Times New Roman"/>
                <a:cs typeface="Times New Roman"/>
                <a:sym typeface="Times New Roman"/>
              </a:rPr>
              <a:t>wedek’e</a:t>
            </a:r>
            <a:br>
              <a:rPr b="1" lang="en-US" sz="2700">
                <a:latin typeface="Times New Roman"/>
                <a:ea typeface="Times New Roman"/>
                <a:cs typeface="Times New Roman"/>
                <a:sym typeface="Times New Roman"/>
              </a:rPr>
            </a:br>
            <a:r>
              <a:rPr b="1" lang="en-US" sz="2700">
                <a:latin typeface="Times New Roman"/>
                <a:ea typeface="Times New Roman"/>
                <a:cs typeface="Times New Roman"/>
                <a:sym typeface="Times New Roman"/>
              </a:rPr>
              <a:t>the boy fell</a:t>
            </a:r>
            <a:br>
              <a:rPr b="1" lang="en-US" sz="2700">
                <a:latin typeface="Times New Roman"/>
                <a:ea typeface="Times New Roman"/>
                <a:cs typeface="Times New Roman"/>
                <a:sym typeface="Times New Roman"/>
              </a:rPr>
            </a:br>
            <a:endParaRPr b="1" sz="3600">
              <a:solidFill>
                <a:srgbClr val="00B0F0"/>
              </a:solidFill>
              <a:latin typeface="Times New Roman"/>
              <a:ea typeface="Times New Roman"/>
              <a:cs typeface="Times New Roman"/>
              <a:sym typeface="Times New Roman"/>
            </a:endParaRPr>
          </a:p>
        </p:txBody>
      </p:sp>
      <p:sp>
        <p:nvSpPr>
          <p:cNvPr id="116" name="Google Shape;116;p4"/>
          <p:cNvSpPr/>
          <p:nvPr/>
        </p:nvSpPr>
        <p:spPr>
          <a:xfrm rot="5400000">
            <a:off x="3536312" y="3935011"/>
            <a:ext cx="204633" cy="362411"/>
          </a:xfrm>
          <a:prstGeom prst="rightBrace">
            <a:avLst>
              <a:gd fmla="val 0"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4"/>
          <p:cNvSpPr/>
          <p:nvPr/>
        </p:nvSpPr>
        <p:spPr>
          <a:xfrm rot="5400000">
            <a:off x="4539710" y="3560954"/>
            <a:ext cx="290970" cy="1061885"/>
          </a:xfrm>
          <a:prstGeom prst="rightBrace">
            <a:avLst>
              <a:gd fmla="val 0"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4"/>
          <p:cNvSpPr/>
          <p:nvPr/>
        </p:nvSpPr>
        <p:spPr>
          <a:xfrm rot="5400000">
            <a:off x="3911549" y="3984968"/>
            <a:ext cx="134979" cy="213855"/>
          </a:xfrm>
          <a:prstGeom prst="rightBrace">
            <a:avLst>
              <a:gd fmla="val 0"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4"/>
          <p:cNvSpPr txBox="1"/>
          <p:nvPr/>
        </p:nvSpPr>
        <p:spPr>
          <a:xfrm>
            <a:off x="3269745" y="4287302"/>
            <a:ext cx="20057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0000"/>
                </a:solidFill>
                <a:latin typeface="Times New Roman"/>
                <a:ea typeface="Times New Roman"/>
                <a:cs typeface="Times New Roman"/>
                <a:sym typeface="Times New Roman"/>
              </a:rPr>
              <a:t>Sub</a:t>
            </a:r>
            <a:r>
              <a:rPr b="0" i="0"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rgbClr val="00B050"/>
                </a:solidFill>
                <a:latin typeface="Times New Roman"/>
                <a:ea typeface="Times New Roman"/>
                <a:cs typeface="Times New Roman"/>
                <a:sym typeface="Times New Roman"/>
              </a:rPr>
              <a:t>suffix </a:t>
            </a:r>
            <a:r>
              <a:rPr b="0" i="0"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rgbClr val="00B0F0"/>
                </a:solidFill>
                <a:latin typeface="Times New Roman"/>
                <a:ea typeface="Times New Roman"/>
                <a:cs typeface="Times New Roman"/>
                <a:sym typeface="Times New Roman"/>
              </a:rPr>
              <a:t>VERB</a:t>
            </a:r>
            <a:endParaRPr/>
          </a:p>
        </p:txBody>
      </p:sp>
      <p:sp>
        <p:nvSpPr>
          <p:cNvPr id="120" name="Google Shape;120;p4"/>
          <p:cNvSpPr txBox="1"/>
          <p:nvPr/>
        </p:nvSpPr>
        <p:spPr>
          <a:xfrm>
            <a:off x="6019951" y="3577079"/>
            <a:ext cx="61500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ኣዳኙ አንበሳውን ገደለው </a:t>
            </a:r>
            <a:r>
              <a:rPr lang="en-US" sz="1800">
                <a:solidFill>
                  <a:srgbClr val="FF0000"/>
                </a:solidFill>
                <a:latin typeface="Times New Roman"/>
                <a:ea typeface="Times New Roman"/>
                <a:cs typeface="Times New Roman"/>
                <a:sym typeface="Times New Roman"/>
              </a:rPr>
              <a:t>adany</a:t>
            </a:r>
            <a:r>
              <a:rPr lang="en-US" sz="1800">
                <a:solidFill>
                  <a:schemeClr val="dk1"/>
                </a:solidFill>
                <a:latin typeface="Calibri"/>
                <a:ea typeface="Calibri"/>
                <a:cs typeface="Calibri"/>
                <a:sym typeface="Calibri"/>
              </a:rPr>
              <a:t> </a:t>
            </a:r>
            <a:r>
              <a:rPr lang="en-US" sz="1800">
                <a:solidFill>
                  <a:srgbClr val="00B0F0"/>
                </a:solidFill>
                <a:latin typeface="Times New Roman"/>
                <a:ea typeface="Times New Roman"/>
                <a:cs typeface="Times New Roman"/>
                <a:sym typeface="Times New Roman"/>
              </a:rPr>
              <a:t>u</a:t>
            </a:r>
            <a:r>
              <a:rPr lang="en-US" sz="1800">
                <a:solidFill>
                  <a:schemeClr val="dk1"/>
                </a:solidFill>
                <a:latin typeface="Times New Roman"/>
                <a:ea typeface="Times New Roman"/>
                <a:cs typeface="Times New Roman"/>
                <a:sym typeface="Times New Roman"/>
              </a:rPr>
              <a:t> </a:t>
            </a:r>
            <a:r>
              <a:rPr lang="en-US" sz="1800">
                <a:solidFill>
                  <a:srgbClr val="00B050"/>
                </a:solidFill>
                <a:latin typeface="Times New Roman"/>
                <a:ea typeface="Times New Roman"/>
                <a:cs typeface="Times New Roman"/>
                <a:sym typeface="Times New Roman"/>
              </a:rPr>
              <a:t>ānibesa</a:t>
            </a:r>
            <a:r>
              <a:rPr lang="en-US" sz="1800">
                <a:solidFill>
                  <a:srgbClr val="00B050"/>
                </a:solidFill>
                <a:latin typeface="Calibri"/>
                <a:ea typeface="Calibri"/>
                <a:cs typeface="Calibri"/>
                <a:sym typeface="Calibri"/>
              </a:rPr>
              <a:t> </a:t>
            </a:r>
            <a:r>
              <a:rPr lang="en-US" sz="1800">
                <a:solidFill>
                  <a:srgbClr val="00B0F0"/>
                </a:solidFill>
                <a:latin typeface="Times New Roman"/>
                <a:ea typeface="Times New Roman"/>
                <a:cs typeface="Times New Roman"/>
                <a:sym typeface="Times New Roman"/>
              </a:rPr>
              <a:t>wini</a:t>
            </a:r>
            <a:r>
              <a:rPr lang="en-US" sz="1800">
                <a:solidFill>
                  <a:schemeClr val="dk1"/>
                </a:solidFill>
                <a:latin typeface="Times New Roman"/>
                <a:ea typeface="Times New Roman"/>
                <a:cs typeface="Times New Roman"/>
                <a:sym typeface="Times New Roman"/>
              </a:rPr>
              <a:t> </a:t>
            </a:r>
            <a:r>
              <a:rPr lang="en-US" sz="1800">
                <a:solidFill>
                  <a:srgbClr val="00B050"/>
                </a:solidFill>
                <a:latin typeface="Times New Roman"/>
                <a:ea typeface="Times New Roman"/>
                <a:cs typeface="Times New Roman"/>
                <a:sym typeface="Times New Roman"/>
              </a:rPr>
              <a:t>gedele</a:t>
            </a:r>
            <a:r>
              <a:rPr lang="en-US" sz="1800">
                <a:solidFill>
                  <a:schemeClr val="dk1"/>
                </a:solidFill>
                <a:latin typeface="Calibri"/>
                <a:ea typeface="Calibri"/>
                <a:cs typeface="Calibri"/>
                <a:sym typeface="Calibri"/>
              </a:rPr>
              <a:t> </a:t>
            </a:r>
            <a:r>
              <a:rPr lang="en-US" sz="1800">
                <a:solidFill>
                  <a:srgbClr val="00B0F0"/>
                </a:solidFill>
                <a:latin typeface="Times New Roman"/>
                <a:ea typeface="Times New Roman"/>
                <a:cs typeface="Times New Roman"/>
                <a:sym typeface="Times New Roman"/>
              </a:rPr>
              <a:t>wi</a:t>
            </a:r>
            <a:endParaRPr sz="1800">
              <a:solidFill>
                <a:srgbClr val="00B0F0"/>
              </a:solidFill>
              <a:latin typeface="Times New Roman"/>
              <a:ea typeface="Times New Roman"/>
              <a:cs typeface="Times New Roman"/>
              <a:sym typeface="Times New Roman"/>
            </a:endParaRPr>
          </a:p>
        </p:txBody>
      </p:sp>
      <p:sp>
        <p:nvSpPr>
          <p:cNvPr id="121" name="Google Shape;121;p4"/>
          <p:cNvSpPr/>
          <p:nvPr/>
        </p:nvSpPr>
        <p:spPr>
          <a:xfrm rot="-5400000">
            <a:off x="9642168" y="3065423"/>
            <a:ext cx="579287" cy="2524429"/>
          </a:xfrm>
          <a:prstGeom prst="leftBrace">
            <a:avLst>
              <a:gd fmla="val 8333" name="adj1"/>
              <a:gd fmla="val 52198"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4"/>
          <p:cNvSpPr txBox="1"/>
          <p:nvPr/>
        </p:nvSpPr>
        <p:spPr>
          <a:xfrm>
            <a:off x="8055229" y="4589143"/>
            <a:ext cx="4114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Sub</a:t>
            </a:r>
            <a:r>
              <a:rPr lang="en-US" sz="1800">
                <a:solidFill>
                  <a:schemeClr val="dk1"/>
                </a:solidFill>
                <a:latin typeface="Times New Roman"/>
                <a:ea typeface="Times New Roman"/>
                <a:cs typeface="Times New Roman"/>
                <a:sym typeface="Times New Roman"/>
              </a:rPr>
              <a:t>  </a:t>
            </a:r>
            <a:r>
              <a:rPr lang="en-US" sz="1800">
                <a:solidFill>
                  <a:srgbClr val="00B0F0"/>
                </a:solidFill>
                <a:latin typeface="Times New Roman"/>
                <a:ea typeface="Times New Roman"/>
                <a:cs typeface="Times New Roman"/>
                <a:sym typeface="Times New Roman"/>
              </a:rPr>
              <a:t>suffix </a:t>
            </a:r>
            <a:r>
              <a:rPr lang="en-US" sz="1800">
                <a:solidFill>
                  <a:srgbClr val="00B050"/>
                </a:solidFill>
                <a:latin typeface="Times New Roman"/>
                <a:ea typeface="Times New Roman"/>
                <a:cs typeface="Times New Roman"/>
                <a:sym typeface="Times New Roman"/>
              </a:rPr>
              <a:t>Object</a:t>
            </a:r>
            <a:r>
              <a:rPr lang="en-US" sz="1800">
                <a:solidFill>
                  <a:schemeClr val="dk1"/>
                </a:solidFill>
                <a:latin typeface="Times New Roman"/>
                <a:ea typeface="Times New Roman"/>
                <a:cs typeface="Times New Roman"/>
                <a:sym typeface="Times New Roman"/>
              </a:rPr>
              <a:t> </a:t>
            </a:r>
            <a:r>
              <a:rPr lang="en-US" sz="1800">
                <a:solidFill>
                  <a:srgbClr val="00B0F0"/>
                </a:solidFill>
                <a:latin typeface="Times New Roman"/>
                <a:ea typeface="Times New Roman"/>
                <a:cs typeface="Times New Roman"/>
                <a:sym typeface="Times New Roman"/>
              </a:rPr>
              <a:t>Suffix</a:t>
            </a:r>
            <a:r>
              <a:rPr lang="en-US" sz="1800">
                <a:solidFill>
                  <a:schemeClr val="dk1"/>
                </a:solidFill>
                <a:latin typeface="Times New Roman"/>
                <a:ea typeface="Times New Roman"/>
                <a:cs typeface="Times New Roman"/>
                <a:sym typeface="Times New Roman"/>
              </a:rPr>
              <a:t>  </a:t>
            </a:r>
            <a:r>
              <a:rPr lang="en-US" sz="1800">
                <a:solidFill>
                  <a:srgbClr val="00B050"/>
                </a:solidFill>
                <a:latin typeface="Times New Roman"/>
                <a:ea typeface="Times New Roman"/>
                <a:cs typeface="Times New Roman"/>
                <a:sym typeface="Times New Roman"/>
              </a:rPr>
              <a:t>Verb</a:t>
            </a:r>
            <a:r>
              <a:rPr lang="en-US" sz="1800">
                <a:solidFill>
                  <a:schemeClr val="dk1"/>
                </a:solidFill>
                <a:latin typeface="Times New Roman"/>
                <a:ea typeface="Times New Roman"/>
                <a:cs typeface="Times New Roman"/>
                <a:sym typeface="Times New Roman"/>
              </a:rPr>
              <a:t> </a:t>
            </a:r>
            <a:r>
              <a:rPr lang="en-US" sz="1800">
                <a:solidFill>
                  <a:srgbClr val="00B0F0"/>
                </a:solidFill>
                <a:latin typeface="Times New Roman"/>
                <a:ea typeface="Times New Roman"/>
                <a:cs typeface="Times New Roman"/>
                <a:sym typeface="Times New Roman"/>
              </a:rPr>
              <a:t>suffix</a:t>
            </a:r>
            <a:r>
              <a:rPr lang="en-US" sz="1800">
                <a:solidFill>
                  <a:schemeClr val="dk1"/>
                </a:solidFill>
                <a:latin typeface="Times New Roman"/>
                <a:ea typeface="Times New Roman"/>
                <a:cs typeface="Times New Roman"/>
                <a:sym typeface="Times New Roman"/>
              </a:rPr>
              <a:t> </a:t>
            </a:r>
            <a:endParaRPr/>
          </a:p>
        </p:txBody>
      </p:sp>
      <p:sp>
        <p:nvSpPr>
          <p:cNvPr id="123" name="Google Shape;123;p4"/>
          <p:cNvSpPr txBox="1"/>
          <p:nvPr/>
        </p:nvSpPr>
        <p:spPr>
          <a:xfrm>
            <a:off x="560958" y="4802117"/>
            <a:ext cx="54175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አንበሳውን አዳኙ ገደለው/</a:t>
            </a:r>
            <a:r>
              <a:rPr lang="en-US" sz="1800">
                <a:solidFill>
                  <a:srgbClr val="FF0000"/>
                </a:solidFill>
                <a:latin typeface="Times New Roman"/>
                <a:ea typeface="Times New Roman"/>
                <a:cs typeface="Times New Roman"/>
                <a:sym typeface="Times New Roman"/>
              </a:rPr>
              <a:t> </a:t>
            </a:r>
            <a:r>
              <a:rPr lang="en-US" sz="1800">
                <a:solidFill>
                  <a:srgbClr val="00B050"/>
                </a:solidFill>
                <a:latin typeface="Times New Roman"/>
                <a:ea typeface="Times New Roman"/>
                <a:cs typeface="Times New Roman"/>
                <a:sym typeface="Times New Roman"/>
              </a:rPr>
              <a:t>ānibesa</a:t>
            </a:r>
            <a:r>
              <a:rPr lang="en-US" sz="1800">
                <a:solidFill>
                  <a:srgbClr val="00B050"/>
                </a:solidFill>
                <a:latin typeface="Calibri"/>
                <a:ea typeface="Calibri"/>
                <a:cs typeface="Calibri"/>
                <a:sym typeface="Calibri"/>
              </a:rPr>
              <a:t> </a:t>
            </a:r>
            <a:r>
              <a:rPr lang="en-US" sz="1800">
                <a:solidFill>
                  <a:srgbClr val="00B0F0"/>
                </a:solidFill>
                <a:latin typeface="Times New Roman"/>
                <a:ea typeface="Times New Roman"/>
                <a:cs typeface="Times New Roman"/>
                <a:sym typeface="Times New Roman"/>
              </a:rPr>
              <a:t>wini </a:t>
            </a:r>
            <a:r>
              <a:rPr lang="en-US" sz="1800">
                <a:solidFill>
                  <a:srgbClr val="FF0000"/>
                </a:solidFill>
                <a:latin typeface="Times New Roman"/>
                <a:ea typeface="Times New Roman"/>
                <a:cs typeface="Times New Roman"/>
                <a:sym typeface="Times New Roman"/>
              </a:rPr>
              <a:t>adany</a:t>
            </a:r>
            <a:r>
              <a:rPr lang="en-US" sz="1800">
                <a:solidFill>
                  <a:schemeClr val="dk1"/>
                </a:solidFill>
                <a:latin typeface="Calibri"/>
                <a:ea typeface="Calibri"/>
                <a:cs typeface="Calibri"/>
                <a:sym typeface="Calibri"/>
              </a:rPr>
              <a:t> </a:t>
            </a:r>
            <a:r>
              <a:rPr lang="en-US" sz="1800">
                <a:solidFill>
                  <a:srgbClr val="00B0F0"/>
                </a:solidFill>
                <a:latin typeface="Times New Roman"/>
                <a:ea typeface="Times New Roman"/>
                <a:cs typeface="Times New Roman"/>
                <a:sym typeface="Times New Roman"/>
              </a:rPr>
              <a:t>u</a:t>
            </a:r>
            <a:r>
              <a:rPr lang="en-US" sz="1800">
                <a:solidFill>
                  <a:schemeClr val="dk1"/>
                </a:solidFill>
                <a:latin typeface="Times New Roman"/>
                <a:ea typeface="Times New Roman"/>
                <a:cs typeface="Times New Roman"/>
                <a:sym typeface="Times New Roman"/>
              </a:rPr>
              <a:t> </a:t>
            </a:r>
            <a:r>
              <a:rPr lang="en-US" sz="1800">
                <a:solidFill>
                  <a:srgbClr val="00B050"/>
                </a:solidFill>
                <a:latin typeface="Times New Roman"/>
                <a:ea typeface="Times New Roman"/>
                <a:cs typeface="Times New Roman"/>
                <a:sym typeface="Times New Roman"/>
              </a:rPr>
              <a:t>gedele</a:t>
            </a:r>
            <a:r>
              <a:rPr lang="en-US" sz="1800">
                <a:solidFill>
                  <a:schemeClr val="dk1"/>
                </a:solidFill>
                <a:latin typeface="Calibri"/>
                <a:ea typeface="Calibri"/>
                <a:cs typeface="Calibri"/>
                <a:sym typeface="Calibri"/>
              </a:rPr>
              <a:t> </a:t>
            </a:r>
            <a:r>
              <a:rPr lang="en-US" sz="1800">
                <a:solidFill>
                  <a:srgbClr val="00B0F0"/>
                </a:solidFill>
                <a:latin typeface="Times New Roman"/>
                <a:ea typeface="Times New Roman"/>
                <a:cs typeface="Times New Roman"/>
                <a:sym typeface="Times New Roman"/>
              </a:rPr>
              <a:t>wi</a:t>
            </a:r>
            <a:endParaRPr sz="1800">
              <a:solidFill>
                <a:schemeClr val="dk1"/>
              </a:solidFill>
              <a:latin typeface="Calibri"/>
              <a:ea typeface="Calibri"/>
              <a:cs typeface="Calibri"/>
              <a:sym typeface="Calibri"/>
            </a:endParaRPr>
          </a:p>
        </p:txBody>
      </p:sp>
      <p:sp>
        <p:nvSpPr>
          <p:cNvPr id="124" name="Google Shape;124;p4"/>
          <p:cNvSpPr/>
          <p:nvPr/>
        </p:nvSpPr>
        <p:spPr>
          <a:xfrm rot="-5400000">
            <a:off x="3983559" y="4187585"/>
            <a:ext cx="314531" cy="2600764"/>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4"/>
          <p:cNvSpPr txBox="1"/>
          <p:nvPr/>
        </p:nvSpPr>
        <p:spPr>
          <a:xfrm>
            <a:off x="3353445" y="5656869"/>
            <a:ext cx="17845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B050"/>
                </a:solidFill>
                <a:latin typeface="Calibri"/>
                <a:ea typeface="Calibri"/>
                <a:cs typeface="Calibri"/>
                <a:sym typeface="Calibri"/>
              </a:rPr>
              <a:t>O</a:t>
            </a: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S</a:t>
            </a:r>
            <a:r>
              <a:rPr lang="en-US" sz="1800">
                <a:solidFill>
                  <a:schemeClr val="dk1"/>
                </a:solidFill>
                <a:latin typeface="Calibri"/>
                <a:ea typeface="Calibri"/>
                <a:cs typeface="Calibri"/>
                <a:sym typeface="Calibri"/>
              </a:rPr>
              <a:t>            </a:t>
            </a:r>
            <a:r>
              <a:rPr lang="en-US" sz="1800">
                <a:solidFill>
                  <a:srgbClr val="00B050"/>
                </a:solidFill>
                <a:latin typeface="Calibri"/>
                <a:ea typeface="Calibri"/>
                <a:cs typeface="Calibri"/>
                <a:sym typeface="Calibri"/>
              </a:rPr>
              <a:t> V</a:t>
            </a:r>
            <a:endParaRPr/>
          </a:p>
        </p:txBody>
      </p:sp>
      <p:sp>
        <p:nvSpPr>
          <p:cNvPr id="126" name="Google Shape;126;p4"/>
          <p:cNvSpPr txBox="1"/>
          <p:nvPr/>
        </p:nvSpPr>
        <p:spPr>
          <a:xfrm>
            <a:off x="443445" y="203544"/>
            <a:ext cx="1172658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00B0F0"/>
                </a:solidFill>
                <a:latin typeface="Times New Roman"/>
                <a:ea typeface="Times New Roman"/>
                <a:cs typeface="Times New Roman"/>
                <a:sym typeface="Times New Roman"/>
              </a:rPr>
              <a:t>Cont.</a:t>
            </a:r>
            <a:endParaRPr/>
          </a:p>
        </p:txBody>
      </p:sp>
      <p:sp>
        <p:nvSpPr>
          <p:cNvPr id="127" name="Google Shape;127;p4"/>
          <p:cNvSpPr txBox="1"/>
          <p:nvPr/>
        </p:nvSpPr>
        <p:spPr>
          <a:xfrm>
            <a:off x="6514496" y="5195497"/>
            <a:ext cx="498924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root verb </a:t>
            </a:r>
            <a:r>
              <a:rPr b="1" lang="en-US" sz="2000">
                <a:solidFill>
                  <a:schemeClr val="dk1"/>
                </a:solidFill>
                <a:latin typeface="Times New Roman"/>
                <a:ea typeface="Times New Roman"/>
                <a:cs typeface="Times New Roman"/>
                <a:sym typeface="Times New Roman"/>
              </a:rPr>
              <a:t>f-r-d</a:t>
            </a:r>
            <a:r>
              <a:rPr lang="en-US" sz="2000">
                <a:solidFill>
                  <a:schemeClr val="dk1"/>
                </a:solidFill>
                <a:latin typeface="Times New Roman"/>
                <a:ea typeface="Times New Roman"/>
                <a:cs typeface="Times New Roman"/>
                <a:sym typeface="Times New Roman"/>
              </a:rPr>
              <a:t>+ ee + </a:t>
            </a:r>
            <a:r>
              <a:rPr lang="en-US" sz="2000">
                <a:solidFill>
                  <a:srgbClr val="00B0F0"/>
                </a:solidFill>
                <a:latin typeface="Times New Roman"/>
                <a:ea typeface="Times New Roman"/>
                <a:cs typeface="Times New Roman"/>
                <a:sym typeface="Times New Roman"/>
              </a:rPr>
              <a:t>CVCVC</a:t>
            </a:r>
            <a:r>
              <a:rPr lang="en-US" sz="2000">
                <a:solidFill>
                  <a:schemeClr val="dk1"/>
                </a:solidFill>
                <a:latin typeface="Times New Roman"/>
                <a:ea typeface="Times New Roman"/>
                <a:cs typeface="Times New Roman"/>
                <a:sym typeface="Times New Roman"/>
              </a:rPr>
              <a:t> leads to the stem </a:t>
            </a:r>
            <a:r>
              <a:rPr b="1" lang="en-US" sz="2000">
                <a:solidFill>
                  <a:schemeClr val="dk1"/>
                </a:solidFill>
                <a:latin typeface="Times New Roman"/>
                <a:ea typeface="Times New Roman"/>
                <a:cs typeface="Times New Roman"/>
                <a:sym typeface="Times New Roman"/>
              </a:rPr>
              <a:t>ferede</a:t>
            </a:r>
            <a:r>
              <a:rPr lang="en-US" sz="2000">
                <a:solidFill>
                  <a:schemeClr val="dk1"/>
                </a:solidFill>
                <a:latin typeface="Times New Roman"/>
                <a:ea typeface="Times New Roman"/>
                <a:cs typeface="Times New Roman"/>
                <a:sym typeface="Times New Roman"/>
              </a:rPr>
              <a:t> (‘judgment’)</a:t>
            </a:r>
            <a:endParaRPr sz="2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838200" y="365125"/>
            <a:ext cx="10515600" cy="53452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B0F0"/>
              </a:buClr>
              <a:buSzPct val="100000"/>
              <a:buFont typeface="Times New Roman"/>
              <a:buNone/>
            </a:pPr>
            <a:r>
              <a:rPr b="1" lang="en-US" sz="3600">
                <a:solidFill>
                  <a:srgbClr val="00B0F0"/>
                </a:solidFill>
                <a:latin typeface="Times New Roman"/>
                <a:ea typeface="Times New Roman"/>
                <a:cs typeface="Times New Roman"/>
                <a:sym typeface="Times New Roman"/>
              </a:rPr>
              <a:t>Amharic Ambiguity </a:t>
            </a:r>
            <a:endParaRPr/>
          </a:p>
        </p:txBody>
      </p:sp>
      <p:sp>
        <p:nvSpPr>
          <p:cNvPr id="133" name="Google Shape;133;p5"/>
          <p:cNvSpPr txBox="1"/>
          <p:nvPr>
            <p:ph idx="1" type="body"/>
          </p:nvPr>
        </p:nvSpPr>
        <p:spPr>
          <a:xfrm>
            <a:off x="277761" y="811162"/>
            <a:ext cx="11636478" cy="5159324"/>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____________________________________________________________________</a:t>
            </a:r>
            <a:endParaRPr/>
          </a:p>
          <a:p>
            <a:pPr indent="0" lvl="0" marL="0" rtl="0" algn="l">
              <a:lnSpc>
                <a:spcPct val="16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Ambiguity is a quality of any thought, idea, statement, or claim whose meaning, intention, or interpretation cannot be determined decisively by a set of rules or processes</a:t>
            </a:r>
            <a:endParaRPr sz="3600"/>
          </a:p>
          <a:p>
            <a:pPr indent="0" lvl="0" marL="0" rtl="0" algn="l">
              <a:lnSpc>
                <a:spcPct val="16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Based on Amare(2000) there were six types of ambiguity. </a:t>
            </a:r>
            <a:endParaRPr/>
          </a:p>
          <a:p>
            <a:pPr indent="-228600" lvl="0" marL="228600" rtl="0" algn="l">
              <a:lnSpc>
                <a:spcPct val="160000"/>
              </a:lnSpc>
              <a:spcBef>
                <a:spcPts val="1000"/>
              </a:spcBef>
              <a:spcAft>
                <a:spcPts val="0"/>
              </a:spcAft>
              <a:buClr>
                <a:srgbClr val="00B050"/>
              </a:buClr>
              <a:buSzPct val="100000"/>
              <a:buFont typeface="Noto Sans Symbols"/>
              <a:buChar char="▪"/>
            </a:pPr>
            <a:r>
              <a:rPr b="1" lang="en-US" sz="2600">
                <a:solidFill>
                  <a:srgbClr val="00B050"/>
                </a:solidFill>
                <a:latin typeface="Times New Roman"/>
                <a:ea typeface="Times New Roman"/>
                <a:cs typeface="Times New Roman"/>
                <a:sym typeface="Times New Roman"/>
              </a:rPr>
              <a:t>Phonological ambiguity- </a:t>
            </a:r>
            <a:r>
              <a:rPr lang="en-US" sz="2600">
                <a:latin typeface="Times New Roman"/>
                <a:ea typeface="Times New Roman"/>
                <a:cs typeface="Times New Roman"/>
                <a:sym typeface="Times New Roman"/>
              </a:rPr>
              <a:t>interpretation of speech sounds within and across words. Example       </a:t>
            </a:r>
            <a:r>
              <a:rPr lang="en-US" sz="2600">
                <a:latin typeface="Arial"/>
                <a:ea typeface="Arial"/>
                <a:cs typeface="Arial"/>
                <a:sym typeface="Arial"/>
              </a:rPr>
              <a:t>ስራ</a:t>
            </a:r>
            <a:r>
              <a:rPr lang="en-US" sz="2600">
                <a:latin typeface="Times New Roman"/>
                <a:ea typeface="Times New Roman"/>
                <a:cs typeface="Times New Roman"/>
                <a:sym typeface="Times New Roman"/>
              </a:rPr>
              <a:t> </a:t>
            </a:r>
            <a:r>
              <a:rPr lang="en-US" sz="2600">
                <a:latin typeface="Arial"/>
                <a:ea typeface="Arial"/>
                <a:cs typeface="Arial"/>
                <a:sym typeface="Arial"/>
              </a:rPr>
              <a:t>ስሩ</a:t>
            </a:r>
            <a:r>
              <a:rPr lang="en-US" sz="2600">
                <a:latin typeface="Times New Roman"/>
                <a:ea typeface="Times New Roman"/>
                <a:cs typeface="Times New Roman"/>
                <a:sym typeface="Times New Roman"/>
              </a:rPr>
              <a:t> </a:t>
            </a:r>
            <a:r>
              <a:rPr lang="en-US" sz="2600">
                <a:latin typeface="Arial"/>
                <a:ea typeface="Arial"/>
                <a:cs typeface="Arial"/>
                <a:sym typeface="Arial"/>
              </a:rPr>
              <a:t>ጥሩ</a:t>
            </a:r>
            <a:r>
              <a:rPr lang="en-US" sz="2600">
                <a:latin typeface="Times New Roman"/>
                <a:ea typeface="Times New Roman"/>
                <a:cs typeface="Times New Roman"/>
                <a:sym typeface="Times New Roman"/>
              </a:rPr>
              <a:t> </a:t>
            </a:r>
            <a:r>
              <a:rPr lang="en-US" sz="2600">
                <a:latin typeface="Arial"/>
                <a:ea typeface="Arial"/>
                <a:cs typeface="Arial"/>
                <a:sym typeface="Arial"/>
              </a:rPr>
              <a:t>ነው/</a:t>
            </a:r>
            <a:r>
              <a:rPr lang="en-US" sz="2600">
                <a:solidFill>
                  <a:srgbClr val="00B0F0"/>
                </a:solidFill>
                <a:latin typeface="Arial"/>
                <a:ea typeface="Arial"/>
                <a:cs typeface="Arial"/>
                <a:sym typeface="Arial"/>
              </a:rPr>
              <a:t>various root are good </a:t>
            </a:r>
            <a:r>
              <a:rPr lang="en-US" sz="2600">
                <a:latin typeface="Arial"/>
                <a:ea typeface="Arial"/>
                <a:cs typeface="Arial"/>
                <a:sym typeface="Arial"/>
              </a:rPr>
              <a:t>or </a:t>
            </a:r>
            <a:r>
              <a:rPr lang="en-US" sz="1800">
                <a:solidFill>
                  <a:srgbClr val="FF0000"/>
                </a:solidFill>
                <a:latin typeface="Times New Roman"/>
                <a:ea typeface="Times New Roman"/>
                <a:cs typeface="Times New Roman"/>
                <a:sym typeface="Times New Roman"/>
              </a:rPr>
              <a:t>it is good to work</a:t>
            </a:r>
            <a:endParaRPr/>
          </a:p>
          <a:p>
            <a:pPr indent="-228600" lvl="0" marL="228600" rtl="0" algn="l">
              <a:lnSpc>
                <a:spcPct val="160000"/>
              </a:lnSpc>
              <a:spcBef>
                <a:spcPts val="1000"/>
              </a:spcBef>
              <a:spcAft>
                <a:spcPts val="0"/>
              </a:spcAft>
              <a:buClr>
                <a:srgbClr val="00B050"/>
              </a:buClr>
              <a:buSzPct val="100000"/>
              <a:buFont typeface="Noto Sans Symbols"/>
              <a:buChar char="▪"/>
            </a:pPr>
            <a:r>
              <a:rPr b="1" lang="en-US" sz="2600">
                <a:solidFill>
                  <a:srgbClr val="00B050"/>
                </a:solidFill>
                <a:latin typeface="Times New Roman"/>
                <a:ea typeface="Times New Roman"/>
                <a:cs typeface="Times New Roman"/>
                <a:sym typeface="Times New Roman"/>
              </a:rPr>
              <a:t>Lexical semantic ambiguity- </a:t>
            </a:r>
            <a:r>
              <a:rPr lang="en-US" sz="2600">
                <a:latin typeface="Times New Roman"/>
                <a:ea typeface="Times New Roman"/>
                <a:cs typeface="Times New Roman"/>
                <a:sym typeface="Times New Roman"/>
              </a:rPr>
              <a:t>Words that have several meanings might lead to various interpretations by various people. Categorical, homonymy, and homophone affixes</a:t>
            </a:r>
            <a:endParaRPr/>
          </a:p>
          <a:p>
            <a:pPr indent="0" lvl="0" marL="0" rtl="0" algn="l">
              <a:lnSpc>
                <a:spcPct val="160000"/>
              </a:lnSpc>
              <a:spcBef>
                <a:spcPts val="1000"/>
              </a:spcBef>
              <a:spcAft>
                <a:spcPts val="0"/>
              </a:spcAft>
              <a:buClr>
                <a:schemeClr val="dk1"/>
              </a:buClr>
              <a:buSzPct val="100000"/>
              <a:buNone/>
            </a:pPr>
            <a:r>
              <a:rPr lang="en-US" sz="2600">
                <a:latin typeface="Times New Roman"/>
                <a:ea typeface="Times New Roman"/>
                <a:cs typeface="Times New Roman"/>
                <a:sym typeface="Times New Roman"/>
              </a:rPr>
              <a:t>      አክርማ ሰጠችኝ/ </a:t>
            </a:r>
            <a:r>
              <a:rPr lang="en-US" sz="2600">
                <a:solidFill>
                  <a:srgbClr val="00B0F0"/>
                </a:solidFill>
                <a:latin typeface="Times New Roman"/>
                <a:ea typeface="Times New Roman"/>
                <a:cs typeface="Times New Roman"/>
                <a:sym typeface="Times New Roman"/>
              </a:rPr>
              <a:t>she gave me a type of color grass </a:t>
            </a:r>
            <a:r>
              <a:rPr lang="en-US" sz="2600">
                <a:latin typeface="Times New Roman"/>
                <a:ea typeface="Times New Roman"/>
                <a:cs typeface="Times New Roman"/>
                <a:sym typeface="Times New Roman"/>
              </a:rPr>
              <a:t>or </a:t>
            </a:r>
            <a:r>
              <a:rPr lang="en-US" sz="2600">
                <a:solidFill>
                  <a:srgbClr val="FF0000"/>
                </a:solidFill>
                <a:latin typeface="Times New Roman"/>
                <a:ea typeface="Times New Roman"/>
                <a:cs typeface="Times New Roman"/>
                <a:sym typeface="Times New Roman"/>
              </a:rPr>
              <a:t>she gave me for after a time delay</a:t>
            </a:r>
            <a:endParaRPr/>
          </a:p>
        </p:txBody>
      </p:sp>
      <p:sp>
        <p:nvSpPr>
          <p:cNvPr id="134" name="Google Shape;1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35" name="Google Shape;135;p5"/>
          <p:cNvSpPr txBox="1"/>
          <p:nvPr>
            <p:ph idx="12" type="sldNum"/>
          </p:nvPr>
        </p:nvSpPr>
        <p:spPr>
          <a:xfrm>
            <a:off x="10250128" y="6356350"/>
            <a:ext cx="1103671"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idx="1" type="body"/>
          </p:nvPr>
        </p:nvSpPr>
        <p:spPr>
          <a:xfrm>
            <a:off x="412955" y="1061884"/>
            <a:ext cx="11503742" cy="5294466"/>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50000"/>
              </a:lnSpc>
              <a:spcBef>
                <a:spcPts val="0"/>
              </a:spcBef>
              <a:spcAft>
                <a:spcPts val="0"/>
              </a:spcAft>
              <a:buClr>
                <a:srgbClr val="00B050"/>
              </a:buClr>
              <a:buSzPct val="100000"/>
              <a:buFont typeface="Noto Sans Symbols"/>
              <a:buChar char="▪"/>
            </a:pPr>
            <a:r>
              <a:rPr b="1" lang="en-US" sz="2400">
                <a:solidFill>
                  <a:srgbClr val="00B050"/>
                </a:solidFill>
                <a:latin typeface="Times New Roman"/>
                <a:ea typeface="Times New Roman"/>
                <a:cs typeface="Times New Roman"/>
                <a:sym typeface="Times New Roman"/>
              </a:rPr>
              <a:t>Structural ambiguity - </a:t>
            </a:r>
            <a:r>
              <a:rPr lang="en-US" sz="2400">
                <a:latin typeface="Times New Roman"/>
                <a:ea typeface="Times New Roman"/>
                <a:cs typeface="Times New Roman"/>
                <a:sym typeface="Times New Roman"/>
              </a:rPr>
              <a:t>structure has more than one possible place, structural ambiguity can occur</a:t>
            </a:r>
            <a:endParaRPr/>
          </a:p>
          <a:p>
            <a:pPr indent="0" lvl="0" marL="0" rtl="0" algn="l">
              <a:lnSpc>
                <a:spcPct val="15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የጎጃም ገብስ ጠላ ሰጠችኝ/Beer made of barley from Gojjam</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                                /Beer of barley from Gojjam/የገብስ ቢራ ከጎጃም </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rgbClr val="00B050"/>
              </a:buClr>
              <a:buSzPct val="100000"/>
              <a:buFont typeface="Noto Sans Symbols"/>
              <a:buChar char="▪"/>
            </a:pPr>
            <a:r>
              <a:rPr b="1" lang="en-US" sz="2400">
                <a:solidFill>
                  <a:srgbClr val="00B050"/>
                </a:solidFill>
                <a:latin typeface="Times New Roman"/>
                <a:ea typeface="Times New Roman"/>
                <a:cs typeface="Times New Roman"/>
                <a:sym typeface="Times New Roman"/>
              </a:rPr>
              <a:t>Referential ambiguity - </a:t>
            </a:r>
            <a:r>
              <a:rPr lang="en-US" sz="2400">
                <a:latin typeface="Times New Roman"/>
                <a:ea typeface="Times New Roman"/>
                <a:cs typeface="Times New Roman"/>
                <a:sym typeface="Times New Roman"/>
              </a:rPr>
              <a:t>Pronouns and antecedents are the same numbers, gender, and person/</a:t>
            </a:r>
            <a:r>
              <a:rPr lang="en-US" sz="2400">
                <a:latin typeface="Arial"/>
                <a:ea typeface="Arial"/>
                <a:cs typeface="Arial"/>
                <a:sym typeface="Arial"/>
              </a:rPr>
              <a:t>ካሳ</a:t>
            </a:r>
            <a:r>
              <a:rPr lang="en-US" sz="2400">
                <a:latin typeface="Times New Roman"/>
                <a:ea typeface="Times New Roman"/>
                <a:cs typeface="Times New Roman"/>
                <a:sym typeface="Times New Roman"/>
              </a:rPr>
              <a:t> </a:t>
            </a:r>
            <a:r>
              <a:rPr lang="en-US" sz="2400">
                <a:latin typeface="Arial"/>
                <a:ea typeface="Arial"/>
                <a:cs typeface="Arial"/>
                <a:sym typeface="Arial"/>
              </a:rPr>
              <a:t>ስለተመረቀ</a:t>
            </a:r>
            <a:r>
              <a:rPr lang="en-US" sz="2400">
                <a:latin typeface="Times New Roman"/>
                <a:ea typeface="Times New Roman"/>
                <a:cs typeface="Times New Roman"/>
                <a:sym typeface="Times New Roman"/>
              </a:rPr>
              <a:t> </a:t>
            </a:r>
            <a:r>
              <a:rPr lang="en-US" sz="2400">
                <a:latin typeface="Arial"/>
                <a:ea typeface="Arial"/>
                <a:cs typeface="Arial"/>
                <a:sym typeface="Arial"/>
              </a:rPr>
              <a:t>ተደሰተ</a:t>
            </a: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rgbClr val="00B050"/>
              </a:buClr>
              <a:buSzPct val="100000"/>
              <a:buFont typeface="Noto Sans Symbols"/>
              <a:buChar char="▪"/>
            </a:pPr>
            <a:r>
              <a:rPr b="1" lang="en-US" sz="2400">
                <a:solidFill>
                  <a:srgbClr val="00B050"/>
                </a:solidFill>
                <a:latin typeface="Times New Roman"/>
                <a:ea typeface="Times New Roman"/>
                <a:cs typeface="Times New Roman"/>
                <a:sym typeface="Times New Roman"/>
              </a:rPr>
              <a:t>Semantic ambiguity - </a:t>
            </a:r>
            <a:r>
              <a:rPr lang="en-US" sz="2400">
                <a:latin typeface="Times New Roman"/>
                <a:ea typeface="Times New Roman"/>
                <a:cs typeface="Times New Roman"/>
                <a:sym typeface="Times New Roman"/>
              </a:rPr>
              <a:t>This type of ambiguity is caused by polysemic, idiomatic, and metaphorical constituents. Ex.መብራቱ ጠፋ</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rgbClr val="00B050"/>
              </a:buClr>
              <a:buSzPct val="100000"/>
              <a:buFont typeface="Noto Sans Symbols"/>
              <a:buChar char="▪"/>
            </a:pPr>
            <a:r>
              <a:rPr b="1" lang="en-US" sz="2400">
                <a:solidFill>
                  <a:srgbClr val="00B050"/>
                </a:solidFill>
                <a:latin typeface="Times New Roman"/>
                <a:ea typeface="Times New Roman"/>
                <a:cs typeface="Times New Roman"/>
                <a:sym typeface="Times New Roman"/>
              </a:rPr>
              <a:t>Orthographic ambiguity - </a:t>
            </a:r>
            <a:r>
              <a:rPr lang="en-US" sz="2400">
                <a:latin typeface="Times New Roman"/>
                <a:ea typeface="Times New Roman"/>
                <a:cs typeface="Times New Roman"/>
                <a:sym typeface="Times New Roman"/>
              </a:rPr>
              <a:t>The context can be used to deduce a word's intended meaning</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Ex. መኪናው ይሰራል</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a:p>
        </p:txBody>
      </p:sp>
      <p:sp>
        <p:nvSpPr>
          <p:cNvPr id="141" name="Google Shape;1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42" name="Google Shape;142;p6"/>
          <p:cNvSpPr txBox="1"/>
          <p:nvPr>
            <p:ph idx="12" type="sldNum"/>
          </p:nvPr>
        </p:nvSpPr>
        <p:spPr>
          <a:xfrm>
            <a:off x="10250129" y="6356350"/>
            <a:ext cx="1103670"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
        <p:nvSpPr>
          <p:cNvPr id="143" name="Google Shape;143;p6"/>
          <p:cNvSpPr txBox="1"/>
          <p:nvPr/>
        </p:nvSpPr>
        <p:spPr>
          <a:xfrm>
            <a:off x="398206" y="414538"/>
            <a:ext cx="1147424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B0F0"/>
                </a:solidFill>
                <a:latin typeface="Times New Roman"/>
                <a:ea typeface="Times New Roman"/>
                <a:cs typeface="Times New Roman"/>
                <a:sym typeface="Times New Roman"/>
              </a:rPr>
              <a:t>… Amharic Ambiguity </a:t>
            </a:r>
            <a:endParaRPr sz="2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type="title"/>
          </p:nvPr>
        </p:nvSpPr>
        <p:spPr>
          <a:xfrm>
            <a:off x="838200" y="136525"/>
            <a:ext cx="10515600" cy="63535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B0F0"/>
              </a:buClr>
              <a:buSzPct val="100000"/>
              <a:buFont typeface="Arial"/>
              <a:buNone/>
            </a:pPr>
            <a:r>
              <a:rPr b="1" lang="en-US" sz="4400">
                <a:solidFill>
                  <a:srgbClr val="00B0F0"/>
                </a:solidFill>
                <a:latin typeface="Arial"/>
                <a:ea typeface="Arial"/>
                <a:cs typeface="Arial"/>
                <a:sym typeface="Arial"/>
              </a:rPr>
              <a:t>Cont.</a:t>
            </a:r>
            <a:endParaRPr/>
          </a:p>
        </p:txBody>
      </p:sp>
      <p:sp>
        <p:nvSpPr>
          <p:cNvPr id="149" name="Google Shape;149;p7"/>
          <p:cNvSpPr txBox="1"/>
          <p:nvPr>
            <p:ph idx="1" type="body"/>
          </p:nvPr>
        </p:nvSpPr>
        <p:spPr>
          <a:xfrm>
            <a:off x="294969" y="771883"/>
            <a:ext cx="11297264" cy="5274956"/>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50000"/>
              </a:lnSpc>
              <a:spcBef>
                <a:spcPts val="0"/>
              </a:spcBef>
              <a:spcAft>
                <a:spcPts val="0"/>
              </a:spcAft>
              <a:buClr>
                <a:schemeClr val="dk1"/>
              </a:buClr>
              <a:buSzPct val="100000"/>
              <a:buNone/>
            </a:pPr>
            <a:r>
              <a:rPr lang="en-US" sz="2800">
                <a:latin typeface="Times New Roman"/>
                <a:ea typeface="Times New Roman"/>
                <a:cs typeface="Times New Roman"/>
                <a:sym typeface="Times New Roman"/>
              </a:rPr>
              <a:t>The task of WSD consists of selecting the intended meaning  or sense from a pre-defined set of senses for that word in a given context.</a:t>
            </a:r>
            <a:endParaRPr/>
          </a:p>
          <a:p>
            <a:pPr indent="0" lvl="0" marL="0" rtl="0" algn="l">
              <a:lnSpc>
                <a:spcPct val="150000"/>
              </a:lnSpc>
              <a:spcBef>
                <a:spcPts val="1000"/>
              </a:spcBef>
              <a:spcAft>
                <a:spcPts val="0"/>
              </a:spcAft>
              <a:buClr>
                <a:schemeClr val="dk1"/>
              </a:buClr>
              <a:buSzPct val="100000"/>
              <a:buNone/>
            </a:pPr>
            <a:r>
              <a:rPr lang="en-US" sz="2800">
                <a:latin typeface="Times New Roman"/>
                <a:ea typeface="Times New Roman"/>
                <a:cs typeface="Times New Roman"/>
                <a:sym typeface="Times New Roman"/>
              </a:rPr>
              <a:t>We can take </a:t>
            </a:r>
            <a:r>
              <a:rPr lang="en-US">
                <a:latin typeface="Times New Roman"/>
                <a:ea typeface="Times New Roman"/>
                <a:cs typeface="Times New Roman"/>
                <a:sym typeface="Times New Roman"/>
              </a:rPr>
              <a:t>an </a:t>
            </a:r>
            <a:r>
              <a:rPr lang="en-US" sz="2800">
                <a:latin typeface="Times New Roman"/>
                <a:ea typeface="Times New Roman"/>
                <a:cs typeface="Times New Roman"/>
                <a:sym typeface="Times New Roman"/>
              </a:rPr>
              <a:t>example word ሀረግ/Phrase/ has three synsets, three glosses, and 8 relations of the word. </a:t>
            </a:r>
            <a:endParaRPr/>
          </a:p>
          <a:p>
            <a:pPr indent="0" lvl="0" marL="0" rtl="0" algn="l">
              <a:lnSpc>
                <a:spcPct val="150000"/>
              </a:lnSpc>
              <a:spcBef>
                <a:spcPts val="1000"/>
              </a:spcBef>
              <a:spcAft>
                <a:spcPts val="0"/>
              </a:spcAft>
              <a:buClr>
                <a:schemeClr val="dk1"/>
              </a:buClr>
              <a:buSzPct val="100000"/>
              <a:buNone/>
            </a:pPr>
            <a:r>
              <a:rPr b="1" lang="en-US" sz="2800">
                <a:latin typeface="Times New Roman"/>
                <a:ea typeface="Times New Roman"/>
                <a:cs typeface="Times New Roman"/>
                <a:sym typeface="Times New Roman"/>
              </a:rPr>
              <a:t>ሀረግ1: </a:t>
            </a:r>
            <a:r>
              <a:rPr lang="en-US" sz="2800">
                <a:latin typeface="Times New Roman"/>
                <a:ea typeface="Times New Roman"/>
                <a:cs typeface="Times New Roman"/>
                <a:sym typeface="Times New Roman"/>
              </a:rPr>
              <a:t>ከአጠገቡ በሚገኙ ዛፎችና ቋሚ ነገሮች ላይ እየተጠመጠመ እና እየተሳበ የሚያድግ እንደ ሃረግ ሬሳ፣ ጥሮ አይነት እጽዋት።/It grows like a corpse, like a corpse, twisting and pulling on nearby trees and shrubs./</a:t>
            </a:r>
            <a:endParaRPr/>
          </a:p>
          <a:p>
            <a:pPr indent="0" lvl="0" marL="0" rtl="0" algn="l">
              <a:lnSpc>
                <a:spcPct val="150000"/>
              </a:lnSpc>
              <a:spcBef>
                <a:spcPts val="1000"/>
              </a:spcBef>
              <a:spcAft>
                <a:spcPts val="0"/>
              </a:spcAft>
              <a:buClr>
                <a:schemeClr val="dk1"/>
              </a:buClr>
              <a:buSzPct val="100000"/>
              <a:buNone/>
            </a:pPr>
            <a:r>
              <a:rPr b="1" lang="en-US" sz="2800">
                <a:latin typeface="Times New Roman"/>
                <a:ea typeface="Times New Roman"/>
                <a:cs typeface="Times New Roman"/>
                <a:sym typeface="Times New Roman"/>
              </a:rPr>
              <a:t>ሀረግ2: </a:t>
            </a:r>
            <a:r>
              <a:rPr lang="en-US" sz="2800">
                <a:latin typeface="Times New Roman"/>
                <a:ea typeface="Times New Roman"/>
                <a:cs typeface="Times New Roman"/>
                <a:sym typeface="Times New Roman"/>
              </a:rPr>
              <a:t>ለጌጥ ሲባል በጥርብ እንጨት፣ በመጽሃፍትና ሐልውቶች ላይ እንደ ሃረግ እየተለጣጠፈ የሚሰራ ንድፍ።/Design for decorative wood carvings, books and statues./</a:t>
            </a:r>
            <a:endParaRPr/>
          </a:p>
          <a:p>
            <a:pPr indent="0" lvl="0" marL="0" rtl="0" algn="l">
              <a:lnSpc>
                <a:spcPct val="150000"/>
              </a:lnSpc>
              <a:spcBef>
                <a:spcPts val="1000"/>
              </a:spcBef>
              <a:spcAft>
                <a:spcPts val="0"/>
              </a:spcAft>
              <a:buClr>
                <a:schemeClr val="dk1"/>
              </a:buClr>
              <a:buSzPct val="100000"/>
              <a:buNone/>
            </a:pPr>
            <a:r>
              <a:t/>
            </a:r>
            <a:endParaRPr sz="2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a:p>
        </p:txBody>
      </p:sp>
      <p:sp>
        <p:nvSpPr>
          <p:cNvPr id="150" name="Google Shape;1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51" name="Google Shape;151;p7"/>
          <p:cNvSpPr txBox="1"/>
          <p:nvPr>
            <p:ph idx="12" type="sldNum"/>
          </p:nvPr>
        </p:nvSpPr>
        <p:spPr>
          <a:xfrm>
            <a:off x="10146890" y="6356350"/>
            <a:ext cx="1206910"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idx="1" type="body"/>
          </p:nvPr>
        </p:nvSpPr>
        <p:spPr>
          <a:xfrm>
            <a:off x="192257" y="431634"/>
            <a:ext cx="11754083" cy="5924716"/>
          </a:xfrm>
          <a:prstGeom prst="rect">
            <a:avLst/>
          </a:prstGeom>
          <a:noFill/>
          <a:ln>
            <a:noFill/>
          </a:ln>
        </p:spPr>
        <p:txBody>
          <a:bodyPr anchorCtr="0" anchor="t" bIns="45700" lIns="91425" spcFirstLastPara="1" rIns="91425" wrap="square" tIns="45700">
            <a:normAutofit fontScale="92500"/>
          </a:bodyPr>
          <a:lstStyle/>
          <a:p>
            <a:pPr indent="0" lvl="0" marL="0" rtl="0" algn="l">
              <a:lnSpc>
                <a:spcPct val="150000"/>
              </a:lnSpc>
              <a:spcBef>
                <a:spcPts val="0"/>
              </a:spcBef>
              <a:spcAft>
                <a:spcPts val="0"/>
              </a:spcAft>
              <a:buClr>
                <a:srgbClr val="00B050"/>
              </a:buClr>
              <a:buSzPct val="100000"/>
              <a:buNone/>
            </a:pPr>
            <a:r>
              <a:rPr lang="en-US" sz="2400">
                <a:latin typeface="Times New Roman"/>
                <a:ea typeface="Times New Roman"/>
                <a:cs typeface="Times New Roman"/>
                <a:sym typeface="Times New Roman"/>
              </a:rPr>
              <a:t>_____________________________________________________________________________</a:t>
            </a:r>
            <a:endParaRPr/>
          </a:p>
          <a:p>
            <a:pPr indent="0" lvl="0" marL="0" rtl="0" algn="l">
              <a:lnSpc>
                <a:spcPct val="150000"/>
              </a:lnSpc>
              <a:spcBef>
                <a:spcPts val="1000"/>
              </a:spcBef>
              <a:spcAft>
                <a:spcPts val="0"/>
              </a:spcAft>
              <a:buClr>
                <a:schemeClr val="dk1"/>
              </a:buClr>
              <a:buSzPct val="100000"/>
              <a:buNone/>
            </a:pPr>
            <a:r>
              <a:rPr b="1" lang="en-US" sz="2400">
                <a:latin typeface="Times New Roman"/>
                <a:ea typeface="Times New Roman"/>
                <a:cs typeface="Times New Roman"/>
                <a:sym typeface="Times New Roman"/>
              </a:rPr>
              <a:t>ሀረግ3: </a:t>
            </a:r>
            <a:r>
              <a:rPr lang="en-US" sz="2400">
                <a:latin typeface="Times New Roman"/>
                <a:ea typeface="Times New Roman"/>
                <a:cs typeface="Times New Roman"/>
                <a:sym typeface="Times New Roman"/>
              </a:rPr>
              <a:t>ሁለትና ከሁለት በላይ ቃላቶቸን የያዘ ማሰሪያ አንቀጽ የሌለዉ የአረፍተ ነገር ከፋይ።/A sentence without a binding paragraph containing two or more words./</a:t>
            </a:r>
            <a:endParaRPr/>
          </a:p>
          <a:p>
            <a:pPr indent="0" lvl="0" marL="0" rtl="0" algn="l">
              <a:lnSpc>
                <a:spcPct val="15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Its relation used as a dataset for this research was </a:t>
            </a:r>
            <a:endParaRPr/>
          </a:p>
          <a:p>
            <a:pPr indent="0" lvl="0" marL="0" rtl="0" algn="l">
              <a:lnSpc>
                <a:spcPct val="15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Hypernyms: እጽዋት በዛፎች ላይ የሚጠመጠሙ ሃረጎችንም ይይዛል።/It also contains phrases that are wrapped around trees./</a:t>
            </a:r>
            <a:endParaRPr/>
          </a:p>
          <a:p>
            <a:pPr indent="0" lvl="0" marL="0" rtl="0" algn="l">
              <a:lnSpc>
                <a:spcPct val="15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Hyponymy: ሃረግ በዛፎች ላይ የሚጠመጠም የእጽዋት አይነት ነው።/Phrase is a type of plant that grows on trees./</a:t>
            </a:r>
            <a:endParaRPr/>
          </a:p>
          <a:p>
            <a:pPr indent="0" lvl="0" marL="0" rtl="0" algn="l">
              <a:lnSpc>
                <a:spcPct val="15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As shown above example hypernymy “እጽዋት”/plant/  hyponymy “ሃረግ”/phrase/the family of phrase is plant. </a:t>
            </a:r>
            <a:endParaRPr/>
          </a:p>
        </p:txBody>
      </p:sp>
      <p:sp>
        <p:nvSpPr>
          <p:cNvPr id="157" name="Google Shape;1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58" name="Google Shape;158;p8"/>
          <p:cNvSpPr txBox="1"/>
          <p:nvPr>
            <p:ph idx="12" type="sldNum"/>
          </p:nvPr>
        </p:nvSpPr>
        <p:spPr>
          <a:xfrm>
            <a:off x="10367888" y="6356350"/>
            <a:ext cx="985911"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800">
              <a:solidFill>
                <a:srgbClr val="FF0000"/>
              </a:solidFill>
              <a:latin typeface="Times New Roman"/>
              <a:ea typeface="Times New Roman"/>
              <a:cs typeface="Times New Roman"/>
              <a:sym typeface="Times New Roman"/>
            </a:endParaRPr>
          </a:p>
        </p:txBody>
      </p:sp>
      <p:sp>
        <p:nvSpPr>
          <p:cNvPr id="159" name="Google Shape;159;p8"/>
          <p:cNvSpPr txBox="1"/>
          <p:nvPr>
            <p:ph type="title"/>
          </p:nvPr>
        </p:nvSpPr>
        <p:spPr>
          <a:xfrm>
            <a:off x="192257" y="136525"/>
            <a:ext cx="11161542" cy="590219"/>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B0F0"/>
              </a:buClr>
              <a:buSzPts val="3600"/>
              <a:buFont typeface="Arial"/>
              <a:buNone/>
            </a:pPr>
            <a:r>
              <a:rPr b="1" lang="en-US" sz="3600">
                <a:solidFill>
                  <a:srgbClr val="00B0F0"/>
                </a:solidFill>
                <a:latin typeface="Arial"/>
                <a:ea typeface="Arial"/>
                <a:cs typeface="Arial"/>
                <a:sym typeface="Arial"/>
              </a:rPr>
              <a:t>Cont</a:t>
            </a:r>
            <a:r>
              <a:rPr b="1" lang="en-US" sz="3600">
                <a:solidFill>
                  <a:srgbClr val="00B0F0"/>
                </a:solidFill>
                <a:latin typeface="Times New Roman"/>
                <a:ea typeface="Times New Roman"/>
                <a:cs typeface="Times New Roman"/>
                <a:sym typeface="Times New Roman"/>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txBox="1"/>
          <p:nvPr>
            <p:ph idx="1" type="body"/>
          </p:nvPr>
        </p:nvSpPr>
        <p:spPr>
          <a:xfrm>
            <a:off x="177421" y="752168"/>
            <a:ext cx="11837158" cy="5626431"/>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50000"/>
              </a:lnSpc>
              <a:spcBef>
                <a:spcPts val="0"/>
              </a:spcBef>
              <a:spcAft>
                <a:spcPts val="0"/>
              </a:spcAft>
              <a:buClr>
                <a:srgbClr val="FF0000"/>
              </a:buClr>
              <a:buSzPct val="100000"/>
              <a:buNone/>
            </a:pPr>
            <a:r>
              <a:rPr b="1" lang="en-US" sz="2400">
                <a:solidFill>
                  <a:srgbClr val="7030A0"/>
                </a:solidFill>
                <a:latin typeface="Times New Roman"/>
                <a:ea typeface="Times New Roman"/>
                <a:cs typeface="Times New Roman"/>
                <a:sym typeface="Times New Roman"/>
              </a:rPr>
              <a:t>__________________________________________________________________________________________</a:t>
            </a:r>
            <a:endParaRPr/>
          </a:p>
          <a:p>
            <a:pPr indent="0" lvl="0" marL="0" rtl="0" algn="l">
              <a:lnSpc>
                <a:spcPct val="150000"/>
              </a:lnSpc>
              <a:spcBef>
                <a:spcPts val="1000"/>
              </a:spcBef>
              <a:spcAft>
                <a:spcPts val="0"/>
              </a:spcAft>
              <a:buClr>
                <a:srgbClr val="FF0000"/>
              </a:buClr>
              <a:buSzPct val="100000"/>
              <a:buNone/>
            </a:pPr>
            <a:r>
              <a:rPr b="1" lang="en-US">
                <a:solidFill>
                  <a:srgbClr val="7030A0"/>
                </a:solidFill>
                <a:latin typeface="Times New Roman"/>
                <a:ea typeface="Times New Roman"/>
                <a:cs typeface="Times New Roman"/>
                <a:sym typeface="Times New Roman"/>
              </a:rPr>
              <a:t>WSD identified one of the three methods </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Knowledge-based approaches use dictionaries while the supervised approaches are based on hand labeled data that are typically lexical samples.</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unsupervised approaches use the information found in un-annotated corpora to distinguish the word meaning.</a:t>
            </a:r>
            <a:endParaRPr/>
          </a:p>
          <a:p>
            <a:pPr indent="0" lvl="0" marL="0" rtl="0" algn="l">
              <a:lnSpc>
                <a:spcPct val="150000"/>
              </a:lnSpc>
              <a:spcBef>
                <a:spcPts val="1000"/>
              </a:spcBef>
              <a:spcAft>
                <a:spcPts val="0"/>
              </a:spcAft>
              <a:buClr>
                <a:srgbClr val="FF0000"/>
              </a:buClr>
              <a:buSzPct val="100000"/>
              <a:buNone/>
            </a:pPr>
            <a:r>
              <a:rPr b="1" lang="en-US">
                <a:solidFill>
                  <a:srgbClr val="7030A0"/>
                </a:solidFill>
                <a:latin typeface="Times New Roman"/>
                <a:ea typeface="Times New Roman"/>
                <a:cs typeface="Times New Roman"/>
                <a:sym typeface="Times New Roman"/>
              </a:rPr>
              <a:t>WordNet developed one of the three methods:</a:t>
            </a:r>
            <a:endParaRPr b="1">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Semi-automatic approaches of WordNet development extend manually created training sets by large corpora of unlabeled data to improve WSD performance. </a:t>
            </a:r>
            <a:endParaRPr/>
          </a:p>
          <a:p>
            <a:pPr indent="-228600" lvl="0" marL="228600" rtl="0" algn="l">
              <a:lnSpc>
                <a:spcPct val="150000"/>
              </a:lnSpc>
              <a:spcBef>
                <a:spcPts val="1000"/>
              </a:spcBef>
              <a:spcAft>
                <a:spcPts val="0"/>
              </a:spcAft>
              <a:buClr>
                <a:srgbClr val="FF0000"/>
              </a:buClr>
              <a:buSzPct val="84848"/>
              <a:buFont typeface="Noto Sans Symbols"/>
              <a:buChar char="⇒"/>
            </a:pPr>
            <a:r>
              <a:rPr lang="en-US">
                <a:latin typeface="Times New Roman"/>
                <a:ea typeface="Times New Roman"/>
                <a:cs typeface="Times New Roman"/>
                <a:sym typeface="Times New Roman"/>
              </a:rPr>
              <a:t>This research WordNet prepared by manual since, there were a lack of annotated Amharic corpora that contains ambiguous words</a:t>
            </a:r>
            <a:endParaRPr sz="3300"/>
          </a:p>
        </p:txBody>
      </p:sp>
      <p:sp>
        <p:nvSpPr>
          <p:cNvPr id="165" name="Google Shape;16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66" name="Google Shape;166;p9"/>
          <p:cNvSpPr txBox="1"/>
          <p:nvPr>
            <p:ph idx="12" type="sldNum"/>
          </p:nvPr>
        </p:nvSpPr>
        <p:spPr>
          <a:xfrm>
            <a:off x="10438228" y="6356350"/>
            <a:ext cx="915572"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600">
              <a:solidFill>
                <a:srgbClr val="FF0000"/>
              </a:solidFill>
              <a:latin typeface="Times New Roman"/>
              <a:ea typeface="Times New Roman"/>
              <a:cs typeface="Times New Roman"/>
              <a:sym typeface="Times New Roman"/>
            </a:endParaRPr>
          </a:p>
        </p:txBody>
      </p:sp>
      <p:sp>
        <p:nvSpPr>
          <p:cNvPr id="167" name="Google Shape;167;p9"/>
          <p:cNvSpPr txBox="1"/>
          <p:nvPr>
            <p:ph type="title"/>
          </p:nvPr>
        </p:nvSpPr>
        <p:spPr>
          <a:xfrm>
            <a:off x="838200" y="365126"/>
            <a:ext cx="10515600" cy="57741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a:solidFill>
                  <a:srgbClr val="00B0F0"/>
                </a:solidFill>
                <a:latin typeface="Arial"/>
                <a:ea typeface="Arial"/>
                <a:cs typeface="Arial"/>
                <a:sym typeface="Arial"/>
              </a:rPr>
              <a:t>Cont.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ph type="title"/>
          </p:nvPr>
        </p:nvSpPr>
        <p:spPr>
          <a:xfrm>
            <a:off x="179335" y="67205"/>
            <a:ext cx="11548279" cy="450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B0F0"/>
              </a:buClr>
              <a:buSzPts val="2800"/>
              <a:buFont typeface="Arial"/>
              <a:buNone/>
            </a:pPr>
            <a:r>
              <a:rPr b="1" lang="en-US" sz="2800">
                <a:solidFill>
                  <a:srgbClr val="00B0F0"/>
                </a:solidFill>
                <a:latin typeface="Arial"/>
                <a:ea typeface="Arial"/>
                <a:cs typeface="Arial"/>
                <a:sym typeface="Arial"/>
              </a:rPr>
              <a:t>Related Work</a:t>
            </a:r>
            <a:endParaRPr b="1" sz="2800">
              <a:solidFill>
                <a:srgbClr val="00B0F0"/>
              </a:solidFill>
              <a:latin typeface="Arial"/>
              <a:ea typeface="Arial"/>
              <a:cs typeface="Arial"/>
              <a:sym typeface="Arial"/>
            </a:endParaRPr>
          </a:p>
        </p:txBody>
      </p:sp>
      <p:graphicFrame>
        <p:nvGraphicFramePr>
          <p:cNvPr id="173" name="Google Shape;173;p10"/>
          <p:cNvGraphicFramePr/>
          <p:nvPr/>
        </p:nvGraphicFramePr>
        <p:xfrm>
          <a:off x="179335" y="412115"/>
          <a:ext cx="3000000" cy="3000000"/>
        </p:xfrm>
        <a:graphic>
          <a:graphicData uri="http://schemas.openxmlformats.org/drawingml/2006/table">
            <a:tbl>
              <a:tblPr bandRow="1" firstRow="1">
                <a:noFill/>
                <a:tableStyleId>{6C2B881B-0BB4-4183-9B5B-D5C12FFFDFD1}</a:tableStyleId>
              </a:tblPr>
              <a:tblGrid>
                <a:gridCol w="596625"/>
                <a:gridCol w="1290725"/>
                <a:gridCol w="2789000"/>
                <a:gridCol w="805200"/>
                <a:gridCol w="2241150"/>
                <a:gridCol w="3999900"/>
              </a:tblGrid>
              <a:tr h="366650">
                <a:tc>
                  <a:txBody>
                    <a:bodyPr/>
                    <a:lstStyle/>
                    <a:p>
                      <a:pPr indent="0" lvl="0" marL="0" marR="0" rtl="0" algn="l">
                        <a:spcBef>
                          <a:spcPts val="0"/>
                        </a:spcBef>
                        <a:spcAft>
                          <a:spcPts val="0"/>
                        </a:spcAft>
                        <a:buNone/>
                      </a:pPr>
                      <a:r>
                        <a:rPr lang="en-US" sz="2000" u="none" cap="none" strike="noStrike">
                          <a:latin typeface="Times New Roman"/>
                          <a:ea typeface="Times New Roman"/>
                          <a:cs typeface="Times New Roman"/>
                          <a:sym typeface="Times New Roman"/>
                        </a:rPr>
                        <a:t>No </a:t>
                      </a:r>
                      <a:endParaRPr/>
                    </a:p>
                  </a:txBody>
                  <a:tcPr marT="45725" marB="45725" marR="91450" marL="91450"/>
                </a:tc>
                <a:tc>
                  <a:txBody>
                    <a:bodyPr/>
                    <a:lstStyle/>
                    <a:p>
                      <a:pPr indent="0" lvl="0" marL="0" marR="0" rtl="0" algn="l">
                        <a:spcBef>
                          <a:spcPts val="0"/>
                        </a:spcBef>
                        <a:spcAft>
                          <a:spcPts val="0"/>
                        </a:spcAft>
                        <a:buNone/>
                      </a:pPr>
                      <a:r>
                        <a:rPr lang="en-US" sz="2000">
                          <a:latin typeface="Times New Roman"/>
                          <a:ea typeface="Times New Roman"/>
                          <a:cs typeface="Times New Roman"/>
                          <a:sym typeface="Times New Roman"/>
                        </a:rPr>
                        <a:t>Authors</a:t>
                      </a:r>
                      <a:endParaRPr/>
                    </a:p>
                  </a:txBody>
                  <a:tcPr marT="45725" marB="45725" marR="91450" marL="91450"/>
                </a:tc>
                <a:tc>
                  <a:txBody>
                    <a:bodyPr/>
                    <a:lstStyle/>
                    <a:p>
                      <a:pPr indent="0" lvl="0" marL="0" marR="0" rtl="0" algn="l">
                        <a:spcBef>
                          <a:spcPts val="0"/>
                        </a:spcBef>
                        <a:spcAft>
                          <a:spcPts val="0"/>
                        </a:spcAft>
                        <a:buNone/>
                      </a:pPr>
                      <a:r>
                        <a:rPr lang="en-US" sz="2000">
                          <a:latin typeface="Times New Roman"/>
                          <a:ea typeface="Times New Roman"/>
                          <a:cs typeface="Times New Roman"/>
                          <a:sym typeface="Times New Roman"/>
                        </a:rPr>
                        <a:t>Title </a:t>
                      </a:r>
                      <a:endParaRPr/>
                    </a:p>
                  </a:txBody>
                  <a:tcPr marT="45725" marB="45725" marR="91450" marL="91450"/>
                </a:tc>
                <a:tc>
                  <a:txBody>
                    <a:bodyPr/>
                    <a:lstStyle/>
                    <a:p>
                      <a:pPr indent="0" lvl="0" marL="0" marR="0" rtl="0" algn="l">
                        <a:spcBef>
                          <a:spcPts val="0"/>
                        </a:spcBef>
                        <a:spcAft>
                          <a:spcPts val="0"/>
                        </a:spcAft>
                        <a:buNone/>
                      </a:pPr>
                      <a:r>
                        <a:rPr lang="en-US" sz="2000">
                          <a:latin typeface="Times New Roman"/>
                          <a:ea typeface="Times New Roman"/>
                          <a:cs typeface="Times New Roman"/>
                          <a:sym typeface="Times New Roman"/>
                        </a:rPr>
                        <a:t>Year </a:t>
                      </a:r>
                      <a:endParaRPr/>
                    </a:p>
                  </a:txBody>
                  <a:tcPr marT="45725" marB="45725" marR="91450" marL="91450"/>
                </a:tc>
                <a:tc>
                  <a:txBody>
                    <a:bodyPr/>
                    <a:lstStyle/>
                    <a:p>
                      <a:pPr indent="0" lvl="0" marL="0" marR="0" rtl="0" algn="l">
                        <a:spcBef>
                          <a:spcPts val="0"/>
                        </a:spcBef>
                        <a:spcAft>
                          <a:spcPts val="0"/>
                        </a:spcAft>
                        <a:buNone/>
                      </a:pPr>
                      <a:r>
                        <a:rPr lang="en-US" sz="2000">
                          <a:latin typeface="Times New Roman"/>
                          <a:ea typeface="Times New Roman"/>
                          <a:cs typeface="Times New Roman"/>
                          <a:sym typeface="Times New Roman"/>
                        </a:rPr>
                        <a:t>Method </a:t>
                      </a:r>
                      <a:endParaRPr/>
                    </a:p>
                  </a:txBody>
                  <a:tcPr marT="45725" marB="45725" marR="91450" marL="91450"/>
                </a:tc>
                <a:tc>
                  <a:txBody>
                    <a:bodyPr/>
                    <a:lstStyle/>
                    <a:p>
                      <a:pPr indent="0" lvl="0" marL="0" marR="0" rtl="0" algn="l">
                        <a:spcBef>
                          <a:spcPts val="0"/>
                        </a:spcBef>
                        <a:spcAft>
                          <a:spcPts val="0"/>
                        </a:spcAft>
                        <a:buNone/>
                      </a:pPr>
                      <a:r>
                        <a:rPr lang="en-US" sz="2000">
                          <a:latin typeface="Times New Roman"/>
                          <a:ea typeface="Times New Roman"/>
                          <a:cs typeface="Times New Roman"/>
                          <a:sym typeface="Times New Roman"/>
                        </a:rPr>
                        <a:t>Gap</a:t>
                      </a:r>
                      <a:endParaRPr/>
                    </a:p>
                  </a:txBody>
                  <a:tcPr marT="45725" marB="45725" marR="91450" marL="91450"/>
                </a:tc>
              </a:tr>
              <a:tr h="1212800">
                <a:tc>
                  <a:txBody>
                    <a:bodyPr/>
                    <a:lstStyle/>
                    <a:p>
                      <a:pPr indent="0" lvl="0" marL="0" marR="0" rtl="0" algn="l">
                        <a:lnSpc>
                          <a:spcPct val="100000"/>
                        </a:lnSpc>
                        <a:spcBef>
                          <a:spcPts val="0"/>
                        </a:spcBef>
                        <a:spcAft>
                          <a:spcPts val="0"/>
                        </a:spcAft>
                        <a:buNone/>
                      </a:pPr>
                      <a:r>
                        <a:rPr lang="en-US" sz="2000">
                          <a:latin typeface="Times New Roman"/>
                          <a:ea typeface="Times New Roman"/>
                          <a:cs typeface="Times New Roman"/>
                          <a:sym typeface="Times New Roman"/>
                        </a:rPr>
                        <a:t>3</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Bekeli</a:t>
                      </a:r>
                      <a:endParaRPr sz="20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A Generic Approach towards All Words Amharic Word Sense Disambiguation</a:t>
                      </a:r>
                      <a:endParaRPr/>
                    </a:p>
                  </a:txBody>
                  <a:tcPr marT="45725" marB="45725" marR="91450" marL="91450"/>
                </a:tc>
                <a:tc>
                  <a:txBody>
                    <a:bodyPr/>
                    <a:lstStyle/>
                    <a:p>
                      <a:pPr indent="0" lvl="0" marL="0" marR="0" rtl="0" algn="l">
                        <a:lnSpc>
                          <a:spcPct val="100000"/>
                        </a:lnSpc>
                        <a:spcBef>
                          <a:spcPts val="0"/>
                        </a:spcBef>
                        <a:spcAft>
                          <a:spcPts val="0"/>
                        </a:spcAft>
                        <a:buNone/>
                      </a:pPr>
                      <a:r>
                        <a:rPr lang="en-US" sz="2000">
                          <a:latin typeface="Times New Roman"/>
                          <a:ea typeface="Times New Roman"/>
                          <a:cs typeface="Times New Roman"/>
                          <a:sym typeface="Times New Roman"/>
                        </a:rPr>
                        <a:t>2017</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Generic approach/Lesk algorithm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algorithm includes multiple words having multiple senses are considered at once problem.</a:t>
                      </a:r>
                      <a:endParaRPr sz="2000">
                        <a:latin typeface="Times New Roman"/>
                        <a:ea typeface="Times New Roman"/>
                        <a:cs typeface="Times New Roman"/>
                        <a:sym typeface="Times New Roman"/>
                      </a:endParaRPr>
                    </a:p>
                  </a:txBody>
                  <a:tcPr marT="45725" marB="45725" marR="91450" marL="91450"/>
                </a:tc>
              </a:tr>
              <a:tr h="648700">
                <a:tc>
                  <a:txBody>
                    <a:bodyPr/>
                    <a:lstStyle/>
                    <a:p>
                      <a:pPr indent="0" lvl="0" marL="0" marR="0" rtl="0" algn="l">
                        <a:lnSpc>
                          <a:spcPct val="100000"/>
                        </a:lnSpc>
                        <a:spcBef>
                          <a:spcPts val="0"/>
                        </a:spcBef>
                        <a:spcAft>
                          <a:spcPts val="0"/>
                        </a:spcAft>
                        <a:buNone/>
                      </a:pPr>
                      <a:r>
                        <a:rPr lang="en-US" sz="2000">
                          <a:latin typeface="Times New Roman"/>
                          <a:ea typeface="Times New Roman"/>
                          <a:cs typeface="Times New Roman"/>
                          <a:sym typeface="Times New Roman"/>
                        </a:rPr>
                        <a:t>5</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US" sz="1800">
                          <a:latin typeface="Times New Roman"/>
                          <a:ea typeface="Times New Roman"/>
                          <a:cs typeface="Times New Roman"/>
                          <a:sym typeface="Times New Roman"/>
                        </a:rPr>
                        <a:t>Du, et al.  </a:t>
                      </a:r>
                      <a:endParaRPr sz="20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Using BERT for Word Sense Disambiguation</a:t>
                      </a:r>
                      <a:endParaRPr/>
                    </a:p>
                  </a:txBody>
                  <a:tcPr marT="45725" marB="45725" marR="91450" marL="91450"/>
                </a:tc>
                <a:tc>
                  <a:txBody>
                    <a:bodyPr/>
                    <a:lstStyle/>
                    <a:p>
                      <a:pPr indent="0" lvl="0" marL="0" marR="0" rtl="0" algn="l">
                        <a:lnSpc>
                          <a:spcPct val="100000"/>
                        </a:lnSpc>
                        <a:spcBef>
                          <a:spcPts val="0"/>
                        </a:spcBef>
                        <a:spcAft>
                          <a:spcPts val="0"/>
                        </a:spcAft>
                        <a:buNone/>
                      </a:pPr>
                      <a:r>
                        <a:rPr lang="en-US" sz="2000">
                          <a:latin typeface="Times New Roman"/>
                          <a:ea typeface="Times New Roman"/>
                          <a:cs typeface="Times New Roman"/>
                          <a:sym typeface="Times New Roman"/>
                        </a:rPr>
                        <a:t>2019</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ELMo, GPT,BERT</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Need pre-trained data and SemCor</a:t>
                      </a:r>
                      <a:endParaRPr sz="2000">
                        <a:latin typeface="Times New Roman"/>
                        <a:ea typeface="Times New Roman"/>
                        <a:cs typeface="Times New Roman"/>
                        <a:sym typeface="Times New Roman"/>
                      </a:endParaRPr>
                    </a:p>
                  </a:txBody>
                  <a:tcPr marT="45725" marB="45725" marR="91450" marL="91450"/>
                </a:tc>
              </a:tr>
              <a:tr h="2679425">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6</a:t>
                      </a:r>
                      <a:endParaRPr/>
                    </a:p>
                  </a:txBody>
                  <a:tcPr marT="45725" marB="45725" marR="91450" marL="91450"/>
                </a:tc>
                <a:tc>
                  <a:txBody>
                    <a:bodyPr/>
                    <a:lstStyle/>
                    <a:p>
                      <a:pPr indent="0" lvl="0" marL="0" marR="0" rtl="0" algn="l">
                        <a:spcBef>
                          <a:spcPts val="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Mulugeta </a:t>
                      </a:r>
                      <a:endParaRPr/>
                    </a:p>
                  </a:txBody>
                  <a:tcPr marT="45725" marB="45725" marR="91450" marL="91450"/>
                </a:tc>
                <a:tc>
                  <a:txBody>
                    <a:bodyPr/>
                    <a:lstStyle/>
                    <a:p>
                      <a:pPr indent="0" lvl="0" marL="0" marR="0" rtl="0" algn="l">
                        <a:spcBef>
                          <a:spcPts val="0"/>
                        </a:spcBef>
                        <a:spcAft>
                          <a:spcPts val="0"/>
                        </a:spcAft>
                        <a:buClr>
                          <a:schemeClr val="dk1"/>
                        </a:buClr>
                        <a:buSzPts val="2000"/>
                        <a:buFont typeface="Noto Sans Symbols"/>
                        <a:buNone/>
                      </a:pPr>
                      <a:r>
                        <a:rPr lang="en-US" sz="2000">
                          <a:latin typeface="Times New Roman"/>
                          <a:ea typeface="Times New Roman"/>
                          <a:cs typeface="Times New Roman"/>
                          <a:sym typeface="Times New Roman"/>
                        </a:rPr>
                        <a:t>Word Sense Disambiguation for Amharic Sentences using WordNet Hierarchy</a:t>
                      </a:r>
                      <a:endParaRPr/>
                    </a:p>
                  </a:txBody>
                  <a:tcPr marT="45725" marB="45725" marR="91450" marL="91450"/>
                </a:tc>
                <a:tc>
                  <a:txBody>
                    <a:bodyPr/>
                    <a:lstStyle/>
                    <a:p>
                      <a:pPr indent="0" lvl="0" marL="0" marR="0" rtl="0" algn="l">
                        <a:spcBef>
                          <a:spcPts val="0"/>
                        </a:spcBef>
                        <a:spcAft>
                          <a:spcPts val="0"/>
                        </a:spcAft>
                        <a:buNone/>
                      </a:pPr>
                      <a:r>
                        <a:rPr lang="en-US" sz="2000">
                          <a:latin typeface="Times New Roman"/>
                          <a:ea typeface="Times New Roman"/>
                          <a:cs typeface="Times New Roman"/>
                          <a:sym typeface="Times New Roman"/>
                        </a:rPr>
                        <a:t>2019</a:t>
                      </a:r>
                      <a:endParaRPr/>
                    </a:p>
                  </a:txBody>
                  <a:tcPr marT="45725" marB="45725" marR="91450" marL="91450"/>
                </a:tc>
                <a:tc>
                  <a:txBody>
                    <a:bodyPr/>
                    <a:lstStyle/>
                    <a:p>
                      <a:pPr indent="0" lvl="0" marL="0" marR="0" rtl="0" algn="l">
                        <a:spcBef>
                          <a:spcPts val="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Context-to-gloss overlap and </a:t>
                      </a:r>
                      <a:endParaRPr/>
                    </a:p>
                    <a:p>
                      <a:pPr indent="0" lvl="0" marL="0" marR="0" rtl="0" algn="l">
                        <a:spcBef>
                          <a:spcPts val="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Augmented semantic space </a:t>
                      </a:r>
                      <a:endParaRPr/>
                    </a:p>
                    <a:p>
                      <a:pPr indent="0" lvl="0" marL="0" marR="0" rtl="0" algn="l">
                        <a:spcBef>
                          <a:spcPts val="0"/>
                        </a:spcBef>
                        <a:spcAft>
                          <a:spcPts val="0"/>
                        </a:spcAft>
                        <a:buNone/>
                      </a:pPr>
                      <a:r>
                        <a:t/>
                      </a:r>
                      <a:endParaRPr sz="2400">
                        <a:latin typeface="Times New Roman"/>
                        <a:ea typeface="Times New Roman"/>
                        <a:cs typeface="Times New Roman"/>
                        <a:sym typeface="Times New Roman"/>
                      </a:endParaRPr>
                    </a:p>
                  </a:txBody>
                  <a:tcPr marT="45725" marB="45725" marR="91450" marL="91450"/>
                </a:tc>
                <a:tc>
                  <a:txBody>
                    <a:bodyPr/>
                    <a:lstStyle/>
                    <a:p>
                      <a:pPr indent="-285750" lvl="0" marL="285750" marR="0" rtl="0" algn="l">
                        <a:lnSpc>
                          <a:spcPct val="100000"/>
                        </a:lnSpc>
                        <a:spcBef>
                          <a:spcPts val="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Augmented semantic space is highly dependent on the number of words that exist in the WordNet.</a:t>
                      </a:r>
                      <a:endParaRPr/>
                    </a:p>
                    <a:p>
                      <a:pPr indent="-285750" lvl="0" marL="285750" marR="0" rtl="0" algn="l">
                        <a:lnSpc>
                          <a:spcPct val="100000"/>
                        </a:lnSpc>
                        <a:spcBef>
                          <a:spcPts val="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The wordnet didn’t consider antonyms, homonymy, troponymy, and holonomy relation of the words</a:t>
                      </a:r>
                      <a:endParaRPr/>
                    </a:p>
                    <a:p>
                      <a:pPr indent="0" lvl="0" marL="0" marR="0" rtl="0" algn="l">
                        <a:spcBef>
                          <a:spcPts val="0"/>
                        </a:spcBef>
                        <a:spcAft>
                          <a:spcPts val="0"/>
                        </a:spcAft>
                        <a:buNone/>
                      </a:pPr>
                      <a:r>
                        <a:t/>
                      </a:r>
                      <a:endParaRPr sz="2400">
                        <a:latin typeface="Times New Roman"/>
                        <a:ea typeface="Times New Roman"/>
                        <a:cs typeface="Times New Roman"/>
                        <a:sym typeface="Times New Roman"/>
                      </a:endParaRPr>
                    </a:p>
                  </a:txBody>
                  <a:tcPr marT="45725" marB="45725" marR="91450" marL="91450"/>
                </a:tc>
              </a:tr>
              <a:tr h="930750">
                <a:tc>
                  <a:txBody>
                    <a:bodyPr/>
                    <a:lstStyle/>
                    <a:p>
                      <a:pPr indent="0" lvl="0" marL="0" marR="0" rtl="0" algn="l">
                        <a:lnSpc>
                          <a:spcPct val="100000"/>
                        </a:lnSpc>
                        <a:spcBef>
                          <a:spcPts val="0"/>
                        </a:spcBef>
                        <a:spcAft>
                          <a:spcPts val="0"/>
                        </a:spcAft>
                        <a:buNone/>
                      </a:pPr>
                      <a:r>
                        <a:rPr lang="en-US" sz="2000">
                          <a:latin typeface="Times New Roman"/>
                          <a:ea typeface="Times New Roman"/>
                          <a:cs typeface="Times New Roman"/>
                          <a:sym typeface="Times New Roman"/>
                        </a:rPr>
                        <a:t>4</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Getaneh</a:t>
                      </a:r>
                      <a:endParaRPr sz="20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Amharic WordNet construction Using Word Embedding</a:t>
                      </a:r>
                      <a:endParaRPr/>
                    </a:p>
                  </a:txBody>
                  <a:tcPr marT="45725" marB="45725" marR="91450" marL="91450"/>
                </a:tc>
                <a:tc>
                  <a:txBody>
                    <a:bodyPr/>
                    <a:lstStyle/>
                    <a:p>
                      <a:pPr indent="0" lvl="0" marL="0" marR="0" rtl="0" algn="l">
                        <a:lnSpc>
                          <a:spcPct val="100000"/>
                        </a:lnSpc>
                        <a:spcBef>
                          <a:spcPts val="0"/>
                        </a:spcBef>
                        <a:spcAft>
                          <a:spcPts val="0"/>
                        </a:spcAft>
                        <a:buNone/>
                      </a:pPr>
                      <a:r>
                        <a:rPr lang="en-US" sz="2000">
                          <a:latin typeface="Times New Roman"/>
                          <a:ea typeface="Times New Roman"/>
                          <a:cs typeface="Times New Roman"/>
                          <a:sym typeface="Times New Roman"/>
                        </a:rPr>
                        <a:t>2020</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word embedding (CBOW and skip-gram) </a:t>
                      </a:r>
                      <a:endParaRPr sz="20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Didn’t include the meronym, holonomy, and troponymy relation of the word.</a:t>
                      </a:r>
                      <a:endParaRPr sz="2000">
                        <a:latin typeface="Times New Roman"/>
                        <a:ea typeface="Times New Roman"/>
                        <a:cs typeface="Times New Roman"/>
                        <a:sym typeface="Times New Roman"/>
                      </a:endParaRPr>
                    </a:p>
                  </a:txBody>
                  <a:tcPr marT="45725" marB="45725" marR="91450" marL="91450"/>
                </a:tc>
              </a:tr>
            </a:tbl>
          </a:graphicData>
        </a:graphic>
      </p:graphicFrame>
      <p:sp>
        <p:nvSpPr>
          <p:cNvPr id="174" name="Google Shape;17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75" name="Google Shape;175;p10"/>
          <p:cNvSpPr txBox="1"/>
          <p:nvPr>
            <p:ph idx="12" type="sldNum"/>
          </p:nvPr>
        </p:nvSpPr>
        <p:spPr>
          <a:xfrm>
            <a:off x="11206317" y="6411761"/>
            <a:ext cx="985683"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ph idx="1" type="body"/>
          </p:nvPr>
        </p:nvSpPr>
        <p:spPr>
          <a:xfrm>
            <a:off x="341194" y="1173708"/>
            <a:ext cx="11559654" cy="5003255"/>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rgbClr val="FF0000"/>
              </a:buClr>
              <a:buSzPts val="2400"/>
              <a:buNone/>
            </a:pPr>
            <a:r>
              <a:rPr lang="en-US" sz="2400">
                <a:latin typeface="Times New Roman"/>
                <a:ea typeface="Times New Roman"/>
                <a:cs typeface="Times New Roman"/>
                <a:sym typeface="Times New Roman"/>
              </a:rPr>
              <a:t>Due to lack of resources like WordNet and SemCor and morphological complexity disambiguation is very difficult task in Amharic.</a:t>
            </a:r>
            <a:endParaRPr/>
          </a:p>
          <a:p>
            <a:pPr indent="0" lvl="0" marL="0" rtl="0" algn="l">
              <a:lnSpc>
                <a:spcPct val="150000"/>
              </a:lnSpc>
              <a:spcBef>
                <a:spcPts val="1000"/>
              </a:spcBef>
              <a:spcAft>
                <a:spcPts val="0"/>
              </a:spcAft>
              <a:buClr>
                <a:srgbClr val="FF0000"/>
              </a:buClr>
              <a:buSzPts val="2400"/>
              <a:buNone/>
            </a:pPr>
            <a:r>
              <a:rPr lang="en-US" sz="2400">
                <a:latin typeface="Times New Roman"/>
                <a:ea typeface="Times New Roman"/>
                <a:cs typeface="Times New Roman"/>
                <a:sym typeface="Times New Roman"/>
              </a:rPr>
              <a:t>Recent work (Mieraf, 2019) done on WSD at sentence level by context to gloss overlap method.</a:t>
            </a:r>
            <a:endParaRPr/>
          </a:p>
          <a:p>
            <a:pPr indent="-228600" lvl="0" marL="228600" rtl="0" algn="l">
              <a:lnSpc>
                <a:spcPct val="150000"/>
              </a:lnSpc>
              <a:spcBef>
                <a:spcPts val="1000"/>
              </a:spcBef>
              <a:spcAft>
                <a:spcPts val="0"/>
              </a:spcAft>
              <a:buClr>
                <a:srgbClr val="FF0000"/>
              </a:buClr>
              <a:buSzPts val="2400"/>
              <a:buFont typeface="Noto Sans Symbols"/>
              <a:buChar char="▪"/>
            </a:pPr>
            <a:r>
              <a:rPr lang="en-US" sz="2400">
                <a:latin typeface="Times New Roman"/>
                <a:ea typeface="Times New Roman"/>
                <a:cs typeface="Times New Roman"/>
                <a:sym typeface="Times New Roman"/>
              </a:rPr>
              <a:t>augmented semantic space is highly dependent on the number of words that exist in the WordNet.</a:t>
            </a:r>
            <a:endParaRPr/>
          </a:p>
          <a:p>
            <a:pPr indent="-228600" lvl="0" marL="228600" rtl="0" algn="l">
              <a:lnSpc>
                <a:spcPct val="150000"/>
              </a:lnSpc>
              <a:spcBef>
                <a:spcPts val="1000"/>
              </a:spcBef>
              <a:spcAft>
                <a:spcPts val="0"/>
              </a:spcAft>
              <a:buClr>
                <a:srgbClr val="FF0000"/>
              </a:buClr>
              <a:buSzPts val="2400"/>
              <a:buFont typeface="Noto Sans Symbols"/>
              <a:buChar char="▪"/>
            </a:pPr>
            <a:r>
              <a:rPr lang="en-US" sz="2400">
                <a:latin typeface="Times New Roman"/>
                <a:ea typeface="Times New Roman"/>
                <a:cs typeface="Times New Roman"/>
                <a:sym typeface="Times New Roman"/>
              </a:rPr>
              <a:t> Context-to gloss overlap is only effective for short sentences due to short sentences have a smaller number of context words which makes the frequency count smaller.</a:t>
            </a:r>
            <a:endParaRPr/>
          </a:p>
          <a:p>
            <a:pPr indent="0" lvl="0" marL="0" rtl="0" algn="l">
              <a:lnSpc>
                <a:spcPct val="150000"/>
              </a:lnSpc>
              <a:spcBef>
                <a:spcPts val="1000"/>
              </a:spcBef>
              <a:spcAft>
                <a:spcPts val="0"/>
              </a:spcAft>
              <a:buClr>
                <a:srgbClr val="FF0000"/>
              </a:buClr>
              <a:buSzPts val="24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rgbClr val="FF0000"/>
              </a:buClr>
              <a:buSzPts val="2000"/>
              <a:buNone/>
            </a:pPr>
            <a:r>
              <a:t/>
            </a:r>
            <a:endParaRPr sz="2000">
              <a:latin typeface="Times New Roman"/>
              <a:ea typeface="Times New Roman"/>
              <a:cs typeface="Times New Roman"/>
              <a:sym typeface="Times New Roman"/>
            </a:endParaRPr>
          </a:p>
          <a:p>
            <a:pPr indent="0" lvl="0" marL="0" rtl="0" algn="l">
              <a:lnSpc>
                <a:spcPct val="150000"/>
              </a:lnSpc>
              <a:spcBef>
                <a:spcPts val="1000"/>
              </a:spcBef>
              <a:spcAft>
                <a:spcPts val="0"/>
              </a:spcAft>
              <a:buClr>
                <a:srgbClr val="FF0000"/>
              </a:buClr>
              <a:buSzPts val="2000"/>
              <a:buNone/>
            </a:pPr>
            <a:r>
              <a:t/>
            </a:r>
            <a:endParaRPr sz="20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
        <p:nvSpPr>
          <p:cNvPr id="181" name="Google Shape;18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82" name="Google Shape;182;p11"/>
          <p:cNvSpPr txBox="1"/>
          <p:nvPr>
            <p:ph idx="12" type="sldNum"/>
          </p:nvPr>
        </p:nvSpPr>
        <p:spPr>
          <a:xfrm>
            <a:off x="10367888" y="6356350"/>
            <a:ext cx="985911"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
        <p:nvSpPr>
          <p:cNvPr id="183" name="Google Shape;183;p11"/>
          <p:cNvSpPr txBox="1"/>
          <p:nvPr>
            <p:ph type="title"/>
          </p:nvPr>
        </p:nvSpPr>
        <p:spPr>
          <a:xfrm>
            <a:off x="453525" y="635318"/>
            <a:ext cx="11334991" cy="457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4000">
                <a:solidFill>
                  <a:srgbClr val="00B0F0"/>
                </a:solidFill>
                <a:latin typeface="Arial"/>
                <a:ea typeface="Arial"/>
                <a:cs typeface="Arial"/>
                <a:sym typeface="Arial"/>
              </a:rPr>
              <a:t>Statement of the Problem</a:t>
            </a:r>
            <a:br>
              <a:rPr b="1" lang="en-US" sz="4000">
                <a:latin typeface="Times New Roman"/>
                <a:ea typeface="Times New Roman"/>
                <a:cs typeface="Times New Roman"/>
                <a:sym typeface="Times New Roman"/>
              </a:rPr>
            </a:br>
            <a:r>
              <a:rPr b="1" lang="en-US" sz="4000">
                <a:latin typeface="Times New Roman"/>
                <a:ea typeface="Times New Roman"/>
                <a:cs typeface="Times New Roman"/>
                <a:sym typeface="Times New Roman"/>
              </a:rPr>
              <a:t>______________________________________________</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type="title"/>
          </p:nvPr>
        </p:nvSpPr>
        <p:spPr>
          <a:xfrm>
            <a:off x="228599" y="177562"/>
            <a:ext cx="11734802" cy="717718"/>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3600">
                <a:solidFill>
                  <a:srgbClr val="00B0F0"/>
                </a:solidFill>
                <a:latin typeface="Arial"/>
                <a:ea typeface="Arial"/>
                <a:cs typeface="Arial"/>
                <a:sym typeface="Arial"/>
              </a:rPr>
              <a:t>Cont.</a:t>
            </a:r>
            <a:br>
              <a:rPr b="1" lang="en-US" sz="3600">
                <a:latin typeface="Times New Roman"/>
                <a:ea typeface="Times New Roman"/>
                <a:cs typeface="Times New Roman"/>
                <a:sym typeface="Times New Roman"/>
              </a:rPr>
            </a:br>
            <a:r>
              <a:rPr b="1" lang="en-US" sz="3600">
                <a:latin typeface="Times New Roman"/>
                <a:ea typeface="Times New Roman"/>
                <a:cs typeface="Times New Roman"/>
                <a:sym typeface="Times New Roman"/>
              </a:rPr>
              <a:t>_______________________________________________________</a:t>
            </a:r>
            <a:endParaRPr b="1" sz="3600"/>
          </a:p>
        </p:txBody>
      </p:sp>
      <p:sp>
        <p:nvSpPr>
          <p:cNvPr id="189" name="Google Shape;189;p12"/>
          <p:cNvSpPr txBox="1"/>
          <p:nvPr>
            <p:ph idx="1" type="body"/>
          </p:nvPr>
        </p:nvSpPr>
        <p:spPr>
          <a:xfrm>
            <a:off x="228599" y="895280"/>
            <a:ext cx="11622505" cy="5273508"/>
          </a:xfrm>
          <a:prstGeom prst="rect">
            <a:avLst/>
          </a:prstGeom>
          <a:noFill/>
          <a:ln>
            <a:noFill/>
          </a:ln>
        </p:spPr>
        <p:txBody>
          <a:bodyPr anchorCtr="0" anchor="t" bIns="45700" lIns="91425" spcFirstLastPara="1" rIns="91425" wrap="square" tIns="45700">
            <a:normAutofit/>
          </a:bodyPr>
          <a:lstStyle/>
          <a:p>
            <a:pPr indent="-228600" lvl="0" marL="228600" rtl="0" algn="l">
              <a:lnSpc>
                <a:spcPct val="170000"/>
              </a:lnSpc>
              <a:spcBef>
                <a:spcPts val="0"/>
              </a:spcBef>
              <a:spcAft>
                <a:spcPts val="0"/>
              </a:spcAft>
              <a:buClr>
                <a:srgbClr val="FF0000"/>
              </a:buClr>
              <a:buSzPts val="2400"/>
              <a:buFont typeface="Noto Sans Symbols"/>
              <a:buChar char="▪"/>
            </a:pPr>
            <a:r>
              <a:rPr i="0" lang="en-US" sz="2400">
                <a:solidFill>
                  <a:srgbClr val="000000"/>
                </a:solidFill>
                <a:latin typeface="Times New Roman"/>
                <a:ea typeface="Times New Roman"/>
                <a:cs typeface="Times New Roman"/>
                <a:sym typeface="Times New Roman"/>
              </a:rPr>
              <a:t>Semantic similarity method had a problem of two concepts that have the same path length have similar distances; even though those have different meanings.</a:t>
            </a:r>
            <a:endParaRPr/>
          </a:p>
          <a:p>
            <a:pPr indent="-228600" lvl="0" marL="228600" rtl="0" algn="l">
              <a:lnSpc>
                <a:spcPct val="170000"/>
              </a:lnSpc>
              <a:spcBef>
                <a:spcPts val="1000"/>
              </a:spcBef>
              <a:spcAft>
                <a:spcPts val="0"/>
              </a:spcAft>
              <a:buClr>
                <a:srgbClr val="FF0000"/>
              </a:buClr>
              <a:buSzPts val="2400"/>
              <a:buFont typeface="Noto Sans Symbols"/>
              <a:buChar char="▪"/>
            </a:pPr>
            <a:r>
              <a:rPr lang="en-US" sz="2400">
                <a:latin typeface="Times New Roman"/>
                <a:ea typeface="Times New Roman"/>
                <a:cs typeface="Times New Roman"/>
                <a:sym typeface="Times New Roman"/>
              </a:rPr>
              <a:t>semantic similarity would be impracticable to implement because it consumes much more memory and is unable to update the model with the additional text corpus without re-training from the beginning.</a:t>
            </a:r>
            <a:endParaRPr/>
          </a:p>
          <a:p>
            <a:pPr indent="-228600" lvl="0" marL="228600" rtl="0" algn="l">
              <a:lnSpc>
                <a:spcPct val="170000"/>
              </a:lnSpc>
              <a:spcBef>
                <a:spcPts val="1000"/>
              </a:spcBef>
              <a:spcAft>
                <a:spcPts val="0"/>
              </a:spcAft>
              <a:buClr>
                <a:srgbClr val="FF0000"/>
              </a:buClr>
              <a:buSzPts val="2400"/>
              <a:buFont typeface="Noto Sans Symbols"/>
              <a:buChar char="▪"/>
            </a:pPr>
            <a:r>
              <a:rPr lang="en-US" sz="2400">
                <a:latin typeface="Times New Roman"/>
                <a:ea typeface="Times New Roman"/>
                <a:cs typeface="Times New Roman"/>
                <a:sym typeface="Times New Roman"/>
              </a:rPr>
              <a:t>Didn’t take into account antonym, homonymy, troponymy, and holonomy  lexical relations of the ambiguous words.</a:t>
            </a:r>
            <a:endParaRPr sz="700"/>
          </a:p>
        </p:txBody>
      </p:sp>
      <p:sp>
        <p:nvSpPr>
          <p:cNvPr id="190" name="Google Shape;19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91" name="Google Shape;191;p12"/>
          <p:cNvSpPr txBox="1"/>
          <p:nvPr>
            <p:ph idx="12" type="sldNum"/>
          </p:nvPr>
        </p:nvSpPr>
        <p:spPr>
          <a:xfrm>
            <a:off x="10170942" y="6356350"/>
            <a:ext cx="1182858"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idx="1" type="body"/>
          </p:nvPr>
        </p:nvSpPr>
        <p:spPr>
          <a:xfrm>
            <a:off x="365760" y="1150374"/>
            <a:ext cx="11591778" cy="5026589"/>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lnSpc>
                <a:spcPct val="170000"/>
              </a:lnSpc>
              <a:spcBef>
                <a:spcPts val="0"/>
              </a:spcBef>
              <a:spcAft>
                <a:spcPts val="0"/>
              </a:spcAft>
              <a:buClr>
                <a:srgbClr val="000000"/>
              </a:buClr>
              <a:buSzPct val="100000"/>
              <a:buNone/>
            </a:pPr>
            <a:r>
              <a:rPr b="0" i="0" lang="en-US" sz="9600">
                <a:solidFill>
                  <a:srgbClr val="000000"/>
                </a:solidFill>
                <a:latin typeface="Times New Roman"/>
                <a:ea typeface="Times New Roman"/>
                <a:cs typeface="Times New Roman"/>
                <a:sym typeface="Times New Roman"/>
              </a:rPr>
              <a:t>This study attempts to answer the following research questions.</a:t>
            </a:r>
            <a:endParaRPr sz="9600">
              <a:latin typeface="Calibri"/>
              <a:ea typeface="Calibri"/>
              <a:cs typeface="Calibri"/>
              <a:sym typeface="Calibri"/>
            </a:endParaRPr>
          </a:p>
          <a:p>
            <a:pPr indent="0" lvl="0" marL="0" marR="0" rtl="0" algn="l">
              <a:lnSpc>
                <a:spcPct val="170000"/>
              </a:lnSpc>
              <a:spcBef>
                <a:spcPts val="1000"/>
              </a:spcBef>
              <a:spcAft>
                <a:spcPts val="0"/>
              </a:spcAft>
              <a:buClr>
                <a:srgbClr val="000000"/>
              </a:buClr>
              <a:buSzPct val="100000"/>
              <a:buNone/>
            </a:pPr>
            <a:r>
              <a:rPr b="1" i="0" lang="en-US" sz="9600">
                <a:solidFill>
                  <a:srgbClr val="000000"/>
                </a:solidFill>
                <a:latin typeface="Times New Roman"/>
                <a:ea typeface="Times New Roman"/>
                <a:cs typeface="Times New Roman"/>
                <a:sym typeface="Times New Roman"/>
              </a:rPr>
              <a:t>RQ1: </a:t>
            </a:r>
            <a:r>
              <a:rPr b="0" i="0" lang="en-US" sz="9600">
                <a:solidFill>
                  <a:srgbClr val="000000"/>
                </a:solidFill>
                <a:latin typeface="Times New Roman"/>
                <a:ea typeface="Times New Roman"/>
                <a:cs typeface="Times New Roman"/>
                <a:sym typeface="Times New Roman"/>
              </a:rPr>
              <a:t>Can we use a Bidirectional LSTM network for Amharic word sense ambiguity</a:t>
            </a:r>
            <a:br>
              <a:rPr b="0" i="0" lang="en-US" sz="9600">
                <a:solidFill>
                  <a:srgbClr val="000000"/>
                </a:solidFill>
                <a:latin typeface="Times New Roman"/>
                <a:ea typeface="Times New Roman"/>
                <a:cs typeface="Times New Roman"/>
                <a:sym typeface="Times New Roman"/>
              </a:rPr>
            </a:br>
            <a:r>
              <a:rPr b="0" i="0" lang="en-US" sz="9600">
                <a:solidFill>
                  <a:srgbClr val="000000"/>
                </a:solidFill>
                <a:latin typeface="Times New Roman"/>
                <a:ea typeface="Times New Roman"/>
                <a:cs typeface="Times New Roman"/>
                <a:sym typeface="Times New Roman"/>
              </a:rPr>
              <a:t>problem?</a:t>
            </a:r>
            <a:br>
              <a:rPr b="0" i="0" lang="en-US" sz="9600">
                <a:solidFill>
                  <a:srgbClr val="000000"/>
                </a:solidFill>
                <a:latin typeface="Times New Roman"/>
                <a:ea typeface="Times New Roman"/>
                <a:cs typeface="Times New Roman"/>
                <a:sym typeface="Times New Roman"/>
              </a:rPr>
            </a:br>
            <a:r>
              <a:rPr b="1" i="0" lang="en-US" sz="9600">
                <a:solidFill>
                  <a:srgbClr val="000000"/>
                </a:solidFill>
                <a:latin typeface="Times New Roman"/>
                <a:ea typeface="Times New Roman"/>
                <a:cs typeface="Times New Roman"/>
                <a:sym typeface="Times New Roman"/>
              </a:rPr>
              <a:t>RQ2: </a:t>
            </a:r>
            <a:r>
              <a:rPr b="0" i="0" lang="en-US" sz="9600">
                <a:solidFill>
                  <a:srgbClr val="000000"/>
                </a:solidFill>
                <a:latin typeface="Times New Roman"/>
                <a:ea typeface="Times New Roman"/>
                <a:cs typeface="Times New Roman"/>
                <a:sym typeface="Times New Roman"/>
              </a:rPr>
              <a:t>Which hyperparameter/s more influence automatic Amharic word sense</a:t>
            </a:r>
            <a:br>
              <a:rPr b="0" i="0" lang="en-US" sz="9600">
                <a:solidFill>
                  <a:srgbClr val="000000"/>
                </a:solidFill>
                <a:latin typeface="Times New Roman"/>
                <a:ea typeface="Times New Roman"/>
                <a:cs typeface="Times New Roman"/>
                <a:sym typeface="Times New Roman"/>
              </a:rPr>
            </a:br>
            <a:r>
              <a:rPr b="0" i="0" lang="en-US" sz="9600">
                <a:solidFill>
                  <a:srgbClr val="000000"/>
                </a:solidFill>
                <a:latin typeface="Times New Roman"/>
                <a:ea typeface="Times New Roman"/>
                <a:cs typeface="Times New Roman"/>
                <a:sym typeface="Times New Roman"/>
              </a:rPr>
              <a:t>disambiguation model during training?</a:t>
            </a:r>
            <a:br>
              <a:rPr b="0" i="0" lang="en-US" sz="9600">
                <a:solidFill>
                  <a:srgbClr val="000000"/>
                </a:solidFill>
                <a:latin typeface="Times New Roman"/>
                <a:ea typeface="Times New Roman"/>
                <a:cs typeface="Times New Roman"/>
                <a:sym typeface="Times New Roman"/>
              </a:rPr>
            </a:br>
            <a:r>
              <a:rPr b="1" i="0" lang="en-US" sz="9600">
                <a:solidFill>
                  <a:srgbClr val="000000"/>
                </a:solidFill>
                <a:latin typeface="Times New Roman"/>
                <a:ea typeface="Times New Roman"/>
                <a:cs typeface="Times New Roman"/>
                <a:sym typeface="Times New Roman"/>
              </a:rPr>
              <a:t>RQ3: </a:t>
            </a:r>
            <a:r>
              <a:rPr b="0" i="0" lang="en-US" sz="9600">
                <a:solidFill>
                  <a:srgbClr val="000000"/>
                </a:solidFill>
                <a:latin typeface="Times New Roman"/>
                <a:ea typeface="Times New Roman"/>
                <a:cs typeface="Times New Roman"/>
                <a:sym typeface="Times New Roman"/>
              </a:rPr>
              <a:t>Which deep learning approach is effective for Amharic word sense Ambiguity</a:t>
            </a:r>
            <a:br>
              <a:rPr b="0" i="0" lang="en-US" sz="9600">
                <a:solidFill>
                  <a:srgbClr val="000000"/>
                </a:solidFill>
                <a:latin typeface="Times New Roman"/>
                <a:ea typeface="Times New Roman"/>
                <a:cs typeface="Times New Roman"/>
                <a:sym typeface="Times New Roman"/>
              </a:rPr>
            </a:br>
            <a:r>
              <a:rPr b="0" i="0" lang="en-US" sz="9600">
                <a:solidFill>
                  <a:srgbClr val="000000"/>
                </a:solidFill>
                <a:latin typeface="Times New Roman"/>
                <a:ea typeface="Times New Roman"/>
                <a:cs typeface="Times New Roman"/>
                <a:sym typeface="Times New Roman"/>
              </a:rPr>
              <a:t>problem?</a:t>
            </a:r>
            <a:br>
              <a:rPr b="0" i="0" lang="en-US" sz="9600">
                <a:solidFill>
                  <a:srgbClr val="000000"/>
                </a:solidFill>
                <a:latin typeface="Times New Roman"/>
                <a:ea typeface="Times New Roman"/>
                <a:cs typeface="Times New Roman"/>
                <a:sym typeface="Times New Roman"/>
              </a:rPr>
            </a:br>
            <a:r>
              <a:rPr b="1" i="0" lang="en-US" sz="9600">
                <a:solidFill>
                  <a:srgbClr val="000000"/>
                </a:solidFill>
                <a:latin typeface="Times New Roman"/>
                <a:ea typeface="Times New Roman"/>
                <a:cs typeface="Times New Roman"/>
                <a:sym typeface="Times New Roman"/>
              </a:rPr>
              <a:t>RQ4: </a:t>
            </a:r>
            <a:r>
              <a:rPr b="0" i="0" lang="en-US" sz="9600">
                <a:solidFill>
                  <a:srgbClr val="000000"/>
                </a:solidFill>
                <a:latin typeface="Times New Roman"/>
                <a:ea typeface="Times New Roman"/>
                <a:cs typeface="Times New Roman"/>
                <a:sym typeface="Times New Roman"/>
              </a:rPr>
              <a:t>To what extent Bi-LSTM network disambiguates Amharic ambiguous words?</a:t>
            </a:r>
            <a:r>
              <a:rPr lang="en-US" sz="7200"/>
              <a:t> </a:t>
            </a:r>
            <a:br>
              <a:rPr lang="en-US" sz="7200"/>
            </a:br>
            <a:endParaRPr/>
          </a:p>
        </p:txBody>
      </p:sp>
      <p:sp>
        <p:nvSpPr>
          <p:cNvPr id="197" name="Google Shape;19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198" name="Google Shape;198;p13"/>
          <p:cNvSpPr txBox="1"/>
          <p:nvPr>
            <p:ph idx="12" type="sldNum"/>
          </p:nvPr>
        </p:nvSpPr>
        <p:spPr>
          <a:xfrm>
            <a:off x="10279626" y="6356350"/>
            <a:ext cx="1074173"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600">
                <a:solidFill>
                  <a:srgbClr val="FF0000"/>
                </a:solidFill>
                <a:latin typeface="Times New Roman"/>
                <a:ea typeface="Times New Roman"/>
                <a:cs typeface="Times New Roman"/>
                <a:sym typeface="Times New Roman"/>
              </a:rPr>
              <a:t>‹#›</a:t>
            </a:fld>
            <a:endParaRPr b="1">
              <a:solidFill>
                <a:srgbClr val="FF0000"/>
              </a:solidFill>
              <a:latin typeface="Times New Roman"/>
              <a:ea typeface="Times New Roman"/>
              <a:cs typeface="Times New Roman"/>
              <a:sym typeface="Times New Roman"/>
            </a:endParaRPr>
          </a:p>
        </p:txBody>
      </p:sp>
      <p:sp>
        <p:nvSpPr>
          <p:cNvPr id="199" name="Google Shape;199;p13"/>
          <p:cNvSpPr txBox="1"/>
          <p:nvPr>
            <p:ph type="title"/>
          </p:nvPr>
        </p:nvSpPr>
        <p:spPr>
          <a:xfrm>
            <a:off x="253217" y="588963"/>
            <a:ext cx="11100582" cy="920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4000">
                <a:solidFill>
                  <a:srgbClr val="00B0F0"/>
                </a:solidFill>
                <a:latin typeface="Arial"/>
                <a:ea typeface="Arial"/>
                <a:cs typeface="Arial"/>
                <a:sym typeface="Arial"/>
              </a:rPr>
              <a:t>Research Questions</a:t>
            </a:r>
            <a:r>
              <a:rPr lang="en-US">
                <a:solidFill>
                  <a:srgbClr val="00B0F0"/>
                </a:solidFill>
              </a:rPr>
              <a:t> </a:t>
            </a:r>
            <a:br>
              <a:rPr lang="en-US"/>
            </a:br>
            <a:r>
              <a:rPr lang="en-US"/>
              <a:t>___________________________________________</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ph idx="1" type="body"/>
          </p:nvPr>
        </p:nvSpPr>
        <p:spPr>
          <a:xfrm>
            <a:off x="281353" y="1041010"/>
            <a:ext cx="11760591" cy="531534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rgbClr val="000000"/>
              </a:buClr>
              <a:buSzPts val="2400"/>
              <a:buNone/>
            </a:pPr>
            <a:r>
              <a:rPr b="0" i="0" lang="en-US" sz="2400">
                <a:solidFill>
                  <a:srgbClr val="000000"/>
                </a:solidFill>
                <a:latin typeface="Times New Roman"/>
                <a:ea typeface="Times New Roman"/>
                <a:cs typeface="Times New Roman"/>
                <a:sym typeface="Times New Roman"/>
              </a:rPr>
              <a:t>The general objective of this research is to design Automatic Amharic word sense disambiguation system by using deep learning. </a:t>
            </a:r>
            <a:endParaRPr sz="2400">
              <a:latin typeface="Times New Roman"/>
              <a:ea typeface="Times New Roman"/>
              <a:cs typeface="Times New Roman"/>
              <a:sym typeface="Times New Roman"/>
            </a:endParaRPr>
          </a:p>
          <a:p>
            <a:pPr indent="0" lvl="0" marL="0" marR="0" rtl="0" algn="l">
              <a:lnSpc>
                <a:spcPct val="150000"/>
              </a:lnSpc>
              <a:spcBef>
                <a:spcPts val="1000"/>
              </a:spcBef>
              <a:spcAft>
                <a:spcPts val="0"/>
              </a:spcAft>
              <a:buClr>
                <a:srgbClr val="000000"/>
              </a:buClr>
              <a:buSzPts val="2400"/>
              <a:buNone/>
            </a:pPr>
            <a:r>
              <a:rPr b="0" i="0" lang="en-US" sz="2400">
                <a:solidFill>
                  <a:srgbClr val="000000"/>
                </a:solidFill>
                <a:latin typeface="Times New Roman"/>
                <a:ea typeface="Times New Roman"/>
                <a:cs typeface="Times New Roman"/>
                <a:sym typeface="Times New Roman"/>
              </a:rPr>
              <a:t>To achieve the general objective, we designed the following specific objectives.</a:t>
            </a:r>
            <a:endParaRPr sz="2400">
              <a:latin typeface="Times New Roman"/>
              <a:ea typeface="Times New Roman"/>
              <a:cs typeface="Times New Roman"/>
              <a:sym typeface="Times New Roman"/>
            </a:endParaRPr>
          </a:p>
          <a:p>
            <a:pPr indent="-228600" lvl="0" marL="228600" marR="0" rtl="0" algn="l">
              <a:lnSpc>
                <a:spcPct val="150000"/>
              </a:lnSpc>
              <a:spcBef>
                <a:spcPts val="1000"/>
              </a:spcBef>
              <a:spcAft>
                <a:spcPts val="0"/>
              </a:spcAft>
              <a:buClr>
                <a:srgbClr val="FF0000"/>
              </a:buClr>
              <a:buSzPts val="2400"/>
              <a:buFont typeface="Noto Sans Symbols"/>
              <a:buChar char="▪"/>
            </a:pPr>
            <a:r>
              <a:rPr b="0" i="0" lang="en-US" sz="2400">
                <a:solidFill>
                  <a:srgbClr val="000000"/>
                </a:solidFill>
                <a:latin typeface="Times New Roman"/>
                <a:ea typeface="Times New Roman"/>
                <a:cs typeface="Times New Roman"/>
                <a:sym typeface="Times New Roman"/>
              </a:rPr>
              <a:t>To prepare a dataset with its relation in Amharic ambiguous words.</a:t>
            </a:r>
            <a:endParaRPr/>
          </a:p>
          <a:p>
            <a:pPr indent="-228600" lvl="0" marL="228600" marR="0" rtl="0" algn="l">
              <a:lnSpc>
                <a:spcPct val="150000"/>
              </a:lnSpc>
              <a:spcBef>
                <a:spcPts val="0"/>
              </a:spcBef>
              <a:spcAft>
                <a:spcPts val="0"/>
              </a:spcAft>
              <a:buClr>
                <a:srgbClr val="FF0000"/>
              </a:buClr>
              <a:buSzPts val="2400"/>
              <a:buFont typeface="Noto Sans Symbols"/>
              <a:buChar char="▪"/>
            </a:pPr>
            <a:r>
              <a:rPr b="0" i="0" lang="en-US" sz="2400">
                <a:solidFill>
                  <a:srgbClr val="000000"/>
                </a:solidFill>
                <a:latin typeface="Times New Roman"/>
                <a:ea typeface="Times New Roman"/>
                <a:cs typeface="Times New Roman"/>
                <a:sym typeface="Times New Roman"/>
              </a:rPr>
              <a:t>To review related works on word sense disambiguation and literature reviews.</a:t>
            </a:r>
            <a:endParaRPr/>
          </a:p>
          <a:p>
            <a:pPr indent="-228600" lvl="0" marL="228600" marR="0" rtl="0" algn="l">
              <a:lnSpc>
                <a:spcPct val="150000"/>
              </a:lnSpc>
              <a:spcBef>
                <a:spcPts val="0"/>
              </a:spcBef>
              <a:spcAft>
                <a:spcPts val="0"/>
              </a:spcAft>
              <a:buClr>
                <a:srgbClr val="FF0000"/>
              </a:buClr>
              <a:buSzPts val="2400"/>
              <a:buFont typeface="Noto Sans Symbols"/>
              <a:buChar char="▪"/>
            </a:pPr>
            <a:r>
              <a:rPr b="0" i="0" lang="en-US" sz="2400">
                <a:solidFill>
                  <a:srgbClr val="000000"/>
                </a:solidFill>
                <a:latin typeface="Times New Roman"/>
                <a:ea typeface="Times New Roman"/>
                <a:cs typeface="Times New Roman"/>
                <a:sym typeface="Times New Roman"/>
              </a:rPr>
              <a:t>To design Amharic WordNet.</a:t>
            </a:r>
            <a:endParaRPr/>
          </a:p>
          <a:p>
            <a:pPr indent="-228600" lvl="0" marL="228600" marR="0" rtl="0" algn="l">
              <a:lnSpc>
                <a:spcPct val="150000"/>
              </a:lnSpc>
              <a:spcBef>
                <a:spcPts val="0"/>
              </a:spcBef>
              <a:spcAft>
                <a:spcPts val="0"/>
              </a:spcAft>
              <a:buClr>
                <a:srgbClr val="FF0000"/>
              </a:buClr>
              <a:buSzPts val="2400"/>
              <a:buFont typeface="Noto Sans Symbols"/>
              <a:buChar char="▪"/>
            </a:pPr>
            <a:r>
              <a:rPr b="0" i="0" lang="en-US" sz="2400">
                <a:solidFill>
                  <a:srgbClr val="000000"/>
                </a:solidFill>
                <a:latin typeface="Times New Roman"/>
                <a:ea typeface="Times New Roman"/>
                <a:cs typeface="Times New Roman"/>
                <a:sym typeface="Times New Roman"/>
              </a:rPr>
              <a:t>To design an automatic word sense disambiguation model.</a:t>
            </a:r>
            <a:endParaRPr/>
          </a:p>
          <a:p>
            <a:pPr indent="-228600" lvl="0" marL="228600" marR="0" rtl="0" algn="l">
              <a:lnSpc>
                <a:spcPct val="150000"/>
              </a:lnSpc>
              <a:spcBef>
                <a:spcPts val="0"/>
              </a:spcBef>
              <a:spcAft>
                <a:spcPts val="0"/>
              </a:spcAft>
              <a:buClr>
                <a:srgbClr val="FF0000"/>
              </a:buClr>
              <a:buSzPts val="2400"/>
              <a:buFont typeface="Noto Sans Symbols"/>
              <a:buChar char="▪"/>
            </a:pPr>
            <a:r>
              <a:rPr b="0" i="0" lang="en-US" sz="2400">
                <a:solidFill>
                  <a:srgbClr val="000000"/>
                </a:solidFill>
                <a:latin typeface="Times New Roman"/>
                <a:ea typeface="Times New Roman"/>
                <a:cs typeface="Times New Roman"/>
                <a:sym typeface="Times New Roman"/>
              </a:rPr>
              <a:t>To test and evaluate Bi-LSTM model using a prepared dataset</a:t>
            </a:r>
            <a:endParaRPr/>
          </a:p>
        </p:txBody>
      </p:sp>
      <p:sp>
        <p:nvSpPr>
          <p:cNvPr id="205" name="Google Shape;20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6/21/2021</a:t>
            </a:r>
            <a:endParaRPr b="1"/>
          </a:p>
        </p:txBody>
      </p:sp>
      <p:sp>
        <p:nvSpPr>
          <p:cNvPr id="206" name="Google Shape;206;p14"/>
          <p:cNvSpPr txBox="1"/>
          <p:nvPr>
            <p:ph idx="12" type="sldNum"/>
          </p:nvPr>
        </p:nvSpPr>
        <p:spPr>
          <a:xfrm>
            <a:off x="10297550" y="6356350"/>
            <a:ext cx="1056249"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000">
              <a:solidFill>
                <a:srgbClr val="FF0000"/>
              </a:solidFill>
              <a:latin typeface="Times New Roman"/>
              <a:ea typeface="Times New Roman"/>
              <a:cs typeface="Times New Roman"/>
              <a:sym typeface="Times New Roman"/>
            </a:endParaRPr>
          </a:p>
        </p:txBody>
      </p:sp>
      <p:sp>
        <p:nvSpPr>
          <p:cNvPr id="207" name="Google Shape;207;p14"/>
          <p:cNvSpPr txBox="1"/>
          <p:nvPr>
            <p:ph type="title"/>
          </p:nvPr>
        </p:nvSpPr>
        <p:spPr>
          <a:xfrm>
            <a:off x="281353" y="480694"/>
            <a:ext cx="11891888" cy="29063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4000">
                <a:solidFill>
                  <a:srgbClr val="00B0F0"/>
                </a:solidFill>
                <a:latin typeface="Arial"/>
                <a:ea typeface="Arial"/>
                <a:cs typeface="Arial"/>
                <a:sym typeface="Arial"/>
              </a:rPr>
              <a:t>Objectives of the Research</a:t>
            </a:r>
            <a:r>
              <a:rPr b="1" lang="en-US" sz="4000">
                <a:solidFill>
                  <a:srgbClr val="00B0F0"/>
                </a:solidFill>
                <a:latin typeface="Times New Roman"/>
                <a:ea typeface="Times New Roman"/>
                <a:cs typeface="Times New Roman"/>
                <a:sym typeface="Times New Roman"/>
              </a:rPr>
              <a:t> </a:t>
            </a: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______________________________________________</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5"/>
          <p:cNvSpPr txBox="1"/>
          <p:nvPr>
            <p:ph idx="1" type="body"/>
          </p:nvPr>
        </p:nvSpPr>
        <p:spPr>
          <a:xfrm>
            <a:off x="313899" y="634181"/>
            <a:ext cx="11723426" cy="5722169"/>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50000"/>
              </a:lnSpc>
              <a:spcBef>
                <a:spcPts val="0"/>
              </a:spcBef>
              <a:spcAft>
                <a:spcPts val="0"/>
              </a:spcAft>
              <a:buClr>
                <a:srgbClr val="00B050"/>
              </a:buClr>
              <a:buSzPct val="100000"/>
              <a:buNone/>
            </a:pPr>
            <a:r>
              <a:rPr b="0" i="0" lang="en-US" sz="3000">
                <a:solidFill>
                  <a:srgbClr val="000000"/>
                </a:solidFill>
                <a:latin typeface="Times New Roman"/>
                <a:ea typeface="Times New Roman"/>
                <a:cs typeface="Times New Roman"/>
                <a:sym typeface="Times New Roman"/>
              </a:rPr>
              <a:t>_______________________________________________________________</a:t>
            </a:r>
            <a:endParaRPr/>
          </a:p>
          <a:p>
            <a:pPr indent="-228600" lvl="0" marL="228600" rtl="0" algn="l">
              <a:lnSpc>
                <a:spcPct val="150000"/>
              </a:lnSpc>
              <a:spcBef>
                <a:spcPts val="1000"/>
              </a:spcBef>
              <a:spcAft>
                <a:spcPts val="0"/>
              </a:spcAft>
              <a:buClr>
                <a:srgbClr val="FF0000"/>
              </a:buClr>
              <a:buSzPct val="100000"/>
              <a:buFont typeface="Noto Sans Symbols"/>
              <a:buChar char="▪"/>
            </a:pPr>
            <a:r>
              <a:rPr b="0" i="0" lang="en-US" sz="3000">
                <a:solidFill>
                  <a:srgbClr val="000000"/>
                </a:solidFill>
                <a:latin typeface="Times New Roman"/>
                <a:ea typeface="Times New Roman"/>
                <a:cs typeface="Times New Roman"/>
                <a:sym typeface="Times New Roman"/>
              </a:rPr>
              <a:t>The study limited on synonym, hyponymy, hypernymy, meronomy, antonym, holonomy, troponomy, and homonymy of given word lexical relations </a:t>
            </a:r>
            <a:r>
              <a:rPr lang="en-US" sz="3000">
                <a:solidFill>
                  <a:srgbClr val="000000"/>
                </a:solidFill>
                <a:latin typeface="Times New Roman"/>
                <a:ea typeface="Times New Roman"/>
                <a:cs typeface="Times New Roman"/>
                <a:sym typeface="Times New Roman"/>
              </a:rPr>
              <a:t>occurred Lexical, semantic and orthographic ambiguity</a:t>
            </a:r>
            <a:r>
              <a:rPr b="0" i="0" lang="en-US" sz="3000">
                <a:solidFill>
                  <a:srgbClr val="000000"/>
                </a:solidFill>
                <a:latin typeface="Times New Roman"/>
                <a:ea typeface="Times New Roman"/>
                <a:cs typeface="Times New Roman"/>
                <a:sym typeface="Times New Roman"/>
              </a:rPr>
              <a:t>.</a:t>
            </a:r>
            <a:r>
              <a:rPr lang="en-US" sz="3000">
                <a:latin typeface="Times New Roman"/>
                <a:ea typeface="Times New Roman"/>
                <a:cs typeface="Times New Roman"/>
                <a:sym typeface="Times New Roman"/>
              </a:rPr>
              <a:t> </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sz="3000">
                <a:latin typeface="Times New Roman"/>
                <a:ea typeface="Times New Roman"/>
                <a:cs typeface="Times New Roman"/>
                <a:sym typeface="Times New Roman"/>
              </a:rPr>
              <a:t>However, two types of meronymy relations of a single word the substance and entailment, and </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sz="3000">
                <a:latin typeface="Times New Roman"/>
                <a:ea typeface="Times New Roman"/>
                <a:cs typeface="Times New Roman"/>
                <a:sym typeface="Times New Roman"/>
              </a:rPr>
              <a:t>Structural, phonological and referential ambiguity </a:t>
            </a:r>
            <a:endParaRPr/>
          </a:p>
          <a:p>
            <a:pPr indent="0" lvl="0" marL="0" rtl="0" algn="l">
              <a:lnSpc>
                <a:spcPct val="150000"/>
              </a:lnSpc>
              <a:spcBef>
                <a:spcPts val="1000"/>
              </a:spcBef>
              <a:spcAft>
                <a:spcPts val="0"/>
              </a:spcAft>
              <a:buClr>
                <a:srgbClr val="00B050"/>
              </a:buClr>
              <a:buSzPct val="100000"/>
              <a:buNone/>
            </a:pPr>
            <a:r>
              <a:rPr lang="en-US" sz="3000">
                <a:latin typeface="Times New Roman"/>
                <a:ea typeface="Times New Roman"/>
                <a:cs typeface="Times New Roman"/>
                <a:sym typeface="Times New Roman"/>
              </a:rPr>
              <a:t>would not the part of this research because of Amharic WordNet resources and pre-trained data constraint (limitation).</a:t>
            </a:r>
            <a:endParaRPr/>
          </a:p>
          <a:p>
            <a:pPr indent="0" lvl="0" marL="0" rtl="0" algn="l">
              <a:lnSpc>
                <a:spcPct val="90000"/>
              </a:lnSpc>
              <a:spcBef>
                <a:spcPts val="1000"/>
              </a:spcBef>
              <a:spcAft>
                <a:spcPts val="0"/>
              </a:spcAft>
              <a:buClr>
                <a:schemeClr val="dk1"/>
              </a:buClr>
              <a:buSzPct val="100000"/>
              <a:buNone/>
            </a:pPr>
            <a:r>
              <a:t/>
            </a:r>
            <a:endParaRPr/>
          </a:p>
        </p:txBody>
      </p:sp>
      <p:sp>
        <p:nvSpPr>
          <p:cNvPr id="213" name="Google Shape;21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14" name="Google Shape;214;p15"/>
          <p:cNvSpPr txBox="1"/>
          <p:nvPr>
            <p:ph idx="12" type="sldNum"/>
          </p:nvPr>
        </p:nvSpPr>
        <p:spPr>
          <a:xfrm>
            <a:off x="10016196" y="6356350"/>
            <a:ext cx="1337603"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
        <p:nvSpPr>
          <p:cNvPr id="215" name="Google Shape;215;p15"/>
          <p:cNvSpPr txBox="1"/>
          <p:nvPr>
            <p:ph type="title"/>
          </p:nvPr>
        </p:nvSpPr>
        <p:spPr>
          <a:xfrm>
            <a:off x="454576" y="356548"/>
            <a:ext cx="11039901" cy="44004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4000">
                <a:solidFill>
                  <a:srgbClr val="00B0F0"/>
                </a:solidFill>
                <a:latin typeface="Arial"/>
                <a:ea typeface="Arial"/>
                <a:cs typeface="Arial"/>
                <a:sym typeface="Arial"/>
              </a:rPr>
              <a:t>Scope and limitation of the study </a:t>
            </a:r>
            <a:endParaRPr>
              <a:solidFill>
                <a:srgbClr val="00B0F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6"/>
          <p:cNvSpPr txBox="1"/>
          <p:nvPr>
            <p:ph idx="1" type="body"/>
          </p:nvPr>
        </p:nvSpPr>
        <p:spPr>
          <a:xfrm>
            <a:off x="354842" y="887104"/>
            <a:ext cx="11532358" cy="5289859"/>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50000"/>
              </a:lnSpc>
              <a:spcBef>
                <a:spcPts val="0"/>
              </a:spcBef>
              <a:spcAft>
                <a:spcPts val="0"/>
              </a:spcAft>
              <a:buClr>
                <a:schemeClr val="dk1"/>
              </a:buClr>
              <a:buSzPct val="100000"/>
              <a:buNone/>
            </a:pPr>
            <a:r>
              <a:rPr lang="en-US">
                <a:latin typeface="Times New Roman"/>
                <a:ea typeface="Times New Roman"/>
                <a:cs typeface="Times New Roman"/>
                <a:sym typeface="Times New Roman"/>
              </a:rPr>
              <a:t>_________________________________________________________________________________</a:t>
            </a:r>
            <a:endParaRPr/>
          </a:p>
          <a:p>
            <a:pPr indent="0" lvl="0" marL="0" rtl="0" algn="l">
              <a:lnSpc>
                <a:spcPct val="150000"/>
              </a:lnSpc>
              <a:spcBef>
                <a:spcPts val="1000"/>
              </a:spcBef>
              <a:spcAft>
                <a:spcPts val="0"/>
              </a:spcAft>
              <a:buClr>
                <a:schemeClr val="dk1"/>
              </a:buClr>
              <a:buSzPct val="100000"/>
              <a:buNone/>
            </a:pPr>
            <a:r>
              <a:rPr lang="en-US">
                <a:latin typeface="Times New Roman"/>
                <a:ea typeface="Times New Roman"/>
                <a:cs typeface="Times New Roman"/>
                <a:sym typeface="Times New Roman"/>
              </a:rPr>
              <a:t>The result produces experimental evidence demonstrated on bidirectional long short-term memory (BI-LSTM) for the development of an automatic Amharic WSD model. </a:t>
            </a:r>
            <a:endParaRPr/>
          </a:p>
          <a:p>
            <a:pPr indent="0" lvl="0" marL="0" rtl="0" algn="l">
              <a:lnSpc>
                <a:spcPct val="150000"/>
              </a:lnSpc>
              <a:spcBef>
                <a:spcPts val="1000"/>
              </a:spcBef>
              <a:spcAft>
                <a:spcPts val="0"/>
              </a:spcAft>
              <a:buClr>
                <a:schemeClr val="dk1"/>
              </a:buClr>
              <a:buSzPct val="100000"/>
              <a:buNone/>
            </a:pPr>
            <a:r>
              <a:rPr lang="en-US">
                <a:latin typeface="Times New Roman"/>
                <a:ea typeface="Times New Roman"/>
                <a:cs typeface="Times New Roman"/>
                <a:sym typeface="Times New Roman"/>
              </a:rPr>
              <a:t>The study useful for future researchers and the dev.'s of different NLP application</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Information Extraction </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Machine Translation </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Information Retrieval </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Event Extraction </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Speech processing </a:t>
            </a:r>
            <a:endParaRPr>
              <a:latin typeface="Times New Roman"/>
              <a:ea typeface="Times New Roman"/>
              <a:cs typeface="Times New Roman"/>
              <a:sym typeface="Times New Roman"/>
            </a:endParaRPr>
          </a:p>
          <a:p>
            <a:pPr indent="-90804" lvl="0" marL="228600" rtl="0" algn="l">
              <a:lnSpc>
                <a:spcPct val="150000"/>
              </a:lnSpc>
              <a:spcBef>
                <a:spcPts val="1000"/>
              </a:spcBef>
              <a:spcAft>
                <a:spcPts val="0"/>
              </a:spcAft>
              <a:buClr>
                <a:schemeClr val="dk1"/>
              </a:buClr>
              <a:buSzPct val="100000"/>
              <a:buFont typeface="Noto Sans Symbols"/>
              <a:buNone/>
            </a:pPr>
            <a:r>
              <a:t/>
            </a:r>
            <a:endParaRPr>
              <a:latin typeface="Times New Roman"/>
              <a:ea typeface="Times New Roman"/>
              <a:cs typeface="Times New Roman"/>
              <a:sym typeface="Times New Roman"/>
            </a:endParaRPr>
          </a:p>
          <a:p>
            <a:pPr indent="-90804" lvl="0" marL="228600" rtl="0" algn="l">
              <a:lnSpc>
                <a:spcPct val="150000"/>
              </a:lnSpc>
              <a:spcBef>
                <a:spcPts val="1000"/>
              </a:spcBef>
              <a:spcAft>
                <a:spcPts val="0"/>
              </a:spcAft>
              <a:buClr>
                <a:schemeClr val="dk1"/>
              </a:buClr>
              <a:buSzPct val="100000"/>
              <a:buFont typeface="Noto Sans Symbols"/>
              <a:buNone/>
            </a:pPr>
            <a:r>
              <a:t/>
            </a:r>
            <a:endParaRPr>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100000"/>
              <a:buNone/>
            </a:pPr>
            <a:r>
              <a:t/>
            </a:r>
            <a:endParaRPr>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None/>
            </a:pPr>
            <a:r>
              <a:t/>
            </a:r>
            <a:endParaRPr/>
          </a:p>
        </p:txBody>
      </p:sp>
      <p:sp>
        <p:nvSpPr>
          <p:cNvPr id="221" name="Google Shape;22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22" name="Google Shape;222;p16"/>
          <p:cNvSpPr txBox="1"/>
          <p:nvPr>
            <p:ph idx="12" type="sldNum"/>
          </p:nvPr>
        </p:nvSpPr>
        <p:spPr>
          <a:xfrm>
            <a:off x="10311618" y="6356350"/>
            <a:ext cx="1042182"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
        <p:nvSpPr>
          <p:cNvPr id="223" name="Google Shape;223;p16"/>
          <p:cNvSpPr txBox="1"/>
          <p:nvPr>
            <p:ph type="title"/>
          </p:nvPr>
        </p:nvSpPr>
        <p:spPr>
          <a:xfrm>
            <a:off x="354842" y="464234"/>
            <a:ext cx="11363546" cy="53457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3600">
                <a:solidFill>
                  <a:srgbClr val="00B0F0"/>
                </a:solidFill>
                <a:latin typeface="Arial"/>
                <a:ea typeface="Arial"/>
                <a:cs typeface="Arial"/>
                <a:sym typeface="Arial"/>
              </a:rPr>
              <a:t>Significance of the study</a:t>
            </a:r>
            <a:r>
              <a:rPr b="1" lang="en-US" sz="3600">
                <a:solidFill>
                  <a:srgbClr val="00B0F0"/>
                </a:solidFill>
                <a:latin typeface="Times New Roman"/>
                <a:ea typeface="Times New Roman"/>
                <a:cs typeface="Times New Roman"/>
                <a:sym typeface="Times New Roman"/>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idx="1" type="body"/>
          </p:nvPr>
        </p:nvSpPr>
        <p:spPr>
          <a:xfrm>
            <a:off x="191729" y="1194618"/>
            <a:ext cx="11878351" cy="5161731"/>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50000"/>
              </a:lnSpc>
              <a:spcBef>
                <a:spcPts val="0"/>
              </a:spcBef>
              <a:spcAft>
                <a:spcPts val="0"/>
              </a:spcAft>
              <a:buClr>
                <a:schemeClr val="dk1"/>
              </a:buClr>
              <a:buSzPct val="100000"/>
              <a:buNone/>
            </a:pPr>
            <a:r>
              <a:rPr lang="en-US" sz="3200">
                <a:latin typeface="Times New Roman"/>
                <a:ea typeface="Times New Roman"/>
                <a:cs typeface="Times New Roman"/>
                <a:sym typeface="Times New Roman"/>
              </a:rPr>
              <a:t>In this study, we will follow design science six steps to achieve the desired objective. </a:t>
            </a:r>
            <a:endParaRPr/>
          </a:p>
          <a:p>
            <a:pPr indent="0" lvl="0" marL="0" rtl="0" algn="l">
              <a:lnSpc>
                <a:spcPct val="150000"/>
              </a:lnSpc>
              <a:spcBef>
                <a:spcPts val="1000"/>
              </a:spcBef>
              <a:spcAft>
                <a:spcPts val="0"/>
              </a:spcAft>
              <a:buClr>
                <a:schemeClr val="dk1"/>
              </a:buClr>
              <a:buSzPct val="100000"/>
              <a:buNone/>
            </a:pPr>
            <a:r>
              <a:rPr lang="en-US" sz="3200">
                <a:latin typeface="Times New Roman"/>
                <a:ea typeface="Times New Roman"/>
                <a:cs typeface="Times New Roman"/>
                <a:sym typeface="Times New Roman"/>
              </a:rPr>
              <a:t>Problem, objective, design and dev.t, Demonstration, evaluation and communication</a:t>
            </a:r>
            <a:endParaRPr sz="32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rgbClr val="FF0000"/>
              </a:buClr>
              <a:buSzPct val="100000"/>
              <a:buFont typeface="Noto Sans Symbols"/>
              <a:buChar char="▪"/>
            </a:pPr>
            <a:r>
              <a:rPr b="1" lang="en-US" sz="3200">
                <a:latin typeface="Times New Roman"/>
                <a:ea typeface="Times New Roman"/>
                <a:cs typeface="Times New Roman"/>
                <a:sym typeface="Times New Roman"/>
              </a:rPr>
              <a:t>Dataset preparation: </a:t>
            </a:r>
            <a:r>
              <a:rPr lang="en-US" sz="3200">
                <a:latin typeface="Times New Roman"/>
                <a:ea typeface="Times New Roman"/>
                <a:cs typeface="Times New Roman"/>
                <a:sym typeface="Times New Roman"/>
              </a:rPr>
              <a:t>The dataset preparation for this research started by finding 159 ambiguous words within 460 glosses prepared in the WordNet.</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sz="3200">
                <a:latin typeface="Times New Roman"/>
                <a:ea typeface="Times New Roman"/>
                <a:cs typeface="Times New Roman"/>
                <a:sym typeface="Times New Roman"/>
              </a:rPr>
              <a:t>2164 sentences prepared for training, 0.1 validation and 0.1 sentences for testing.</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sz="3200">
                <a:latin typeface="Times New Roman"/>
                <a:ea typeface="Times New Roman"/>
                <a:cs typeface="Times New Roman"/>
                <a:sym typeface="Times New Roman"/>
              </a:rPr>
              <a:t>Those sentence reviewed by the acknowledge experts which is taken both were agree.</a:t>
            </a:r>
            <a:endParaRPr/>
          </a:p>
          <a:p>
            <a:pPr indent="0" lvl="0" marL="0" rtl="0" algn="l">
              <a:lnSpc>
                <a:spcPct val="150000"/>
              </a:lnSpc>
              <a:spcBef>
                <a:spcPts val="1000"/>
              </a:spcBef>
              <a:spcAft>
                <a:spcPts val="0"/>
              </a:spcAft>
              <a:buClr>
                <a:srgbClr val="00B050"/>
              </a:buClr>
              <a:buSzPct val="100000"/>
              <a:buNone/>
            </a:pPr>
            <a:r>
              <a:rPr b="1" lang="en-US" sz="3200">
                <a:latin typeface="Times New Roman"/>
                <a:ea typeface="Times New Roman"/>
                <a:cs typeface="Times New Roman"/>
                <a:sym typeface="Times New Roman"/>
              </a:rPr>
              <a:t>Source:</a:t>
            </a:r>
            <a:r>
              <a:rPr lang="en-US" sz="3200">
                <a:latin typeface="Times New Roman"/>
                <a:ea typeface="Times New Roman"/>
                <a:cs typeface="Times New Roman"/>
                <a:sym typeface="Times New Roman"/>
              </a:rPr>
              <a:t>- </a:t>
            </a:r>
            <a:r>
              <a:rPr lang="en-US">
                <a:latin typeface="Times New Roman"/>
                <a:ea typeface="Times New Roman"/>
                <a:cs typeface="Times New Roman"/>
                <a:sym typeface="Times New Roman"/>
              </a:rPr>
              <a:t>Amharic news, magazines, Amharic dictionaries, online Amharic sketch engines.  </a:t>
            </a:r>
            <a:endParaRPr/>
          </a:p>
          <a:p>
            <a:pPr indent="0" lvl="0" marL="0" rtl="0" algn="l">
              <a:lnSpc>
                <a:spcPct val="150000"/>
              </a:lnSpc>
              <a:spcBef>
                <a:spcPts val="1000"/>
              </a:spcBef>
              <a:spcAft>
                <a:spcPts val="0"/>
              </a:spcAft>
              <a:buClr>
                <a:srgbClr val="00B050"/>
              </a:buClr>
              <a:buSzPct val="100000"/>
              <a:buNone/>
            </a:pPr>
            <a:r>
              <a:rPr b="1" lang="en-US" sz="3200">
                <a:latin typeface="Times New Roman"/>
                <a:ea typeface="Times New Roman"/>
                <a:cs typeface="Times New Roman"/>
                <a:sym typeface="Times New Roman"/>
              </a:rPr>
              <a:t>Preprocessing – </a:t>
            </a:r>
            <a:r>
              <a:rPr lang="en-US" sz="3200">
                <a:latin typeface="Times New Roman"/>
                <a:ea typeface="Times New Roman"/>
                <a:cs typeface="Times New Roman"/>
                <a:sym typeface="Times New Roman"/>
              </a:rPr>
              <a:t>T</a:t>
            </a:r>
            <a:r>
              <a:rPr lang="en-US">
                <a:latin typeface="Times New Roman"/>
                <a:ea typeface="Times New Roman"/>
                <a:cs typeface="Times New Roman"/>
                <a:sym typeface="Times New Roman"/>
              </a:rPr>
              <a:t>okenization, stop-word removal, normalization, stemming</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100000"/>
              <a:buNone/>
            </a:pPr>
            <a:r>
              <a:t/>
            </a:r>
            <a:endParaRPr sz="3600"/>
          </a:p>
        </p:txBody>
      </p:sp>
      <p:sp>
        <p:nvSpPr>
          <p:cNvPr id="229" name="Google Shape;22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30" name="Google Shape;230;p17"/>
          <p:cNvSpPr txBox="1"/>
          <p:nvPr>
            <p:ph idx="12" type="sldNum"/>
          </p:nvPr>
        </p:nvSpPr>
        <p:spPr>
          <a:xfrm>
            <a:off x="10255348" y="6356350"/>
            <a:ext cx="1098452"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000">
              <a:solidFill>
                <a:srgbClr val="FF0000"/>
              </a:solidFill>
            </a:endParaRPr>
          </a:p>
        </p:txBody>
      </p:sp>
      <p:sp>
        <p:nvSpPr>
          <p:cNvPr id="231" name="Google Shape;231;p17"/>
          <p:cNvSpPr txBox="1"/>
          <p:nvPr>
            <p:ph type="title"/>
          </p:nvPr>
        </p:nvSpPr>
        <p:spPr>
          <a:xfrm>
            <a:off x="407963" y="365126"/>
            <a:ext cx="11662117" cy="31591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4000">
                <a:solidFill>
                  <a:srgbClr val="00B0F0"/>
                </a:solidFill>
                <a:latin typeface="Arial"/>
                <a:ea typeface="Arial"/>
                <a:cs typeface="Arial"/>
                <a:sym typeface="Arial"/>
              </a:rPr>
              <a:t>Methodology</a:t>
            </a:r>
            <a:br>
              <a:rPr b="1" lang="en-US" sz="3600">
                <a:latin typeface="Times New Roman"/>
                <a:ea typeface="Times New Roman"/>
                <a:cs typeface="Times New Roman"/>
                <a:sym typeface="Times New Roman"/>
              </a:rPr>
            </a:br>
            <a:r>
              <a:rPr b="1" lang="en-US" sz="3600">
                <a:latin typeface="Times New Roman"/>
                <a:ea typeface="Times New Roman"/>
                <a:cs typeface="Times New Roman"/>
                <a:sym typeface="Times New Roman"/>
              </a:rPr>
              <a:t> _______________________________________________________</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37" name="Google Shape;237;p18"/>
          <p:cNvSpPr txBox="1"/>
          <p:nvPr>
            <p:ph idx="12" type="sldNum"/>
          </p:nvPr>
        </p:nvSpPr>
        <p:spPr>
          <a:xfrm>
            <a:off x="10227212" y="6356350"/>
            <a:ext cx="1126588"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
        <p:nvSpPr>
          <p:cNvPr id="238" name="Google Shape;238;p18"/>
          <p:cNvSpPr txBox="1"/>
          <p:nvPr>
            <p:ph type="title"/>
          </p:nvPr>
        </p:nvSpPr>
        <p:spPr>
          <a:xfrm>
            <a:off x="211696" y="136525"/>
            <a:ext cx="11675504" cy="621982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50000"/>
              </a:lnSpc>
              <a:spcBef>
                <a:spcPts val="0"/>
              </a:spcBef>
              <a:spcAft>
                <a:spcPts val="0"/>
              </a:spcAft>
              <a:buClr>
                <a:srgbClr val="00B0F0"/>
              </a:buClr>
              <a:buSzPct val="100000"/>
              <a:buFont typeface="Arial"/>
              <a:buNone/>
            </a:pPr>
            <a:r>
              <a:rPr b="1" lang="en-US" sz="4900">
                <a:solidFill>
                  <a:srgbClr val="00B0F0"/>
                </a:solidFill>
                <a:latin typeface="Arial"/>
                <a:ea typeface="Arial"/>
                <a:cs typeface="Arial"/>
                <a:sym typeface="Arial"/>
              </a:rPr>
              <a:t>…</a:t>
            </a:r>
            <a:r>
              <a:rPr b="1" lang="en-US" sz="2700">
                <a:solidFill>
                  <a:srgbClr val="00B050"/>
                </a:solidFill>
                <a:latin typeface="Arial"/>
                <a:ea typeface="Arial"/>
                <a:cs typeface="Arial"/>
                <a:sym typeface="Arial"/>
              </a:rPr>
              <a:t>Algorithm: Bi-LSTM</a:t>
            </a:r>
            <a:br>
              <a:rPr b="1" lang="en-US" sz="2700">
                <a:solidFill>
                  <a:srgbClr val="00B050"/>
                </a:solidFill>
                <a:latin typeface="Arial"/>
                <a:ea typeface="Arial"/>
                <a:cs typeface="Arial"/>
                <a:sym typeface="Arial"/>
              </a:rPr>
            </a:br>
            <a:br>
              <a:rPr b="1" lang="en-US" sz="2700">
                <a:solidFill>
                  <a:srgbClr val="00B050"/>
                </a:solidFill>
                <a:latin typeface="Arial"/>
                <a:ea typeface="Arial"/>
                <a:cs typeface="Arial"/>
                <a:sym typeface="Arial"/>
              </a:rPr>
            </a:br>
            <a:br>
              <a:rPr b="1" lang="en-US" sz="2700">
                <a:solidFill>
                  <a:srgbClr val="00B050"/>
                </a:solidFill>
                <a:latin typeface="Arial"/>
                <a:ea typeface="Arial"/>
                <a:cs typeface="Arial"/>
                <a:sym typeface="Arial"/>
              </a:rPr>
            </a:br>
            <a:br>
              <a:rPr b="1" lang="en-US" sz="2700">
                <a:solidFill>
                  <a:srgbClr val="00B050"/>
                </a:solidFill>
                <a:latin typeface="Arial"/>
                <a:ea typeface="Arial"/>
                <a:cs typeface="Arial"/>
                <a:sym typeface="Arial"/>
              </a:rPr>
            </a:br>
            <a:br>
              <a:rPr b="1" lang="en-US" sz="2700">
                <a:solidFill>
                  <a:srgbClr val="00B050"/>
                </a:solidFill>
                <a:latin typeface="Arial"/>
                <a:ea typeface="Arial"/>
                <a:cs typeface="Arial"/>
                <a:sym typeface="Arial"/>
              </a:rPr>
            </a:br>
            <a:br>
              <a:rPr b="1" lang="en-US" sz="2700">
                <a:solidFill>
                  <a:srgbClr val="00B050"/>
                </a:solidFill>
                <a:latin typeface="Arial"/>
                <a:ea typeface="Arial"/>
                <a:cs typeface="Arial"/>
                <a:sym typeface="Arial"/>
              </a:rPr>
            </a:br>
            <a:br>
              <a:rPr b="1" lang="en-US" sz="2700">
                <a:solidFill>
                  <a:srgbClr val="00B050"/>
                </a:solidFill>
                <a:latin typeface="Arial"/>
                <a:ea typeface="Arial"/>
                <a:cs typeface="Arial"/>
                <a:sym typeface="Arial"/>
              </a:rPr>
            </a:br>
            <a:br>
              <a:rPr b="1" lang="en-US" sz="4800">
                <a:latin typeface="Arial"/>
                <a:ea typeface="Arial"/>
                <a:cs typeface="Arial"/>
                <a:sym typeface="Arial"/>
              </a:rPr>
            </a:br>
            <a:endParaRPr b="1" sz="3600">
              <a:solidFill>
                <a:srgbClr val="00B0F0"/>
              </a:solidFill>
              <a:latin typeface="Times New Roman"/>
              <a:ea typeface="Times New Roman"/>
              <a:cs typeface="Times New Roman"/>
              <a:sym typeface="Times New Roman"/>
            </a:endParaRPr>
          </a:p>
        </p:txBody>
      </p:sp>
      <p:pic>
        <p:nvPicPr>
          <p:cNvPr id="239" name="Google Shape;239;p18"/>
          <p:cNvPicPr preferRelativeResize="0"/>
          <p:nvPr/>
        </p:nvPicPr>
        <p:blipFill rotWithShape="1">
          <a:blip r:embed="rId3">
            <a:alphaModFix/>
          </a:blip>
          <a:srcRect b="0" l="0" r="0" t="0"/>
          <a:stretch/>
        </p:blipFill>
        <p:spPr>
          <a:xfrm>
            <a:off x="211696" y="1843548"/>
            <a:ext cx="11675504" cy="4143470"/>
          </a:xfrm>
          <a:prstGeom prst="rect">
            <a:avLst/>
          </a:prstGeom>
          <a:noFill/>
          <a:ln>
            <a:noFill/>
          </a:ln>
        </p:spPr>
      </p:pic>
      <p:sp>
        <p:nvSpPr>
          <p:cNvPr id="240" name="Google Shape;240;p18"/>
          <p:cNvSpPr txBox="1"/>
          <p:nvPr/>
        </p:nvSpPr>
        <p:spPr>
          <a:xfrm>
            <a:off x="634181" y="5997356"/>
            <a:ext cx="999940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Figure 1: Bi-LSTM internal structure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9"/>
          <p:cNvSpPr txBox="1"/>
          <p:nvPr>
            <p:ph type="title"/>
          </p:nvPr>
        </p:nvSpPr>
        <p:spPr>
          <a:xfrm>
            <a:off x="838200" y="365126"/>
            <a:ext cx="10515600" cy="43128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B0F0"/>
              </a:buClr>
              <a:buSzPct val="100000"/>
              <a:buFont typeface="Times New Roman"/>
              <a:buNone/>
            </a:pPr>
            <a:r>
              <a:rPr b="1" lang="en-US" sz="3200">
                <a:solidFill>
                  <a:srgbClr val="00B0F0"/>
                </a:solidFill>
                <a:latin typeface="Times New Roman"/>
                <a:ea typeface="Times New Roman"/>
                <a:cs typeface="Times New Roman"/>
                <a:sym typeface="Times New Roman"/>
              </a:rPr>
              <a:t>Lexical Relations </a:t>
            </a:r>
            <a:endParaRPr/>
          </a:p>
        </p:txBody>
      </p:sp>
      <p:sp>
        <p:nvSpPr>
          <p:cNvPr id="246" name="Google Shape;246;p19"/>
          <p:cNvSpPr txBox="1"/>
          <p:nvPr>
            <p:ph idx="1" type="body"/>
          </p:nvPr>
        </p:nvSpPr>
        <p:spPr>
          <a:xfrm>
            <a:off x="368709" y="796414"/>
            <a:ext cx="11415251" cy="5380550"/>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170000"/>
              </a:lnSpc>
              <a:spcBef>
                <a:spcPts val="0"/>
              </a:spcBef>
              <a:spcAft>
                <a:spcPts val="0"/>
              </a:spcAft>
              <a:buClr>
                <a:srgbClr val="FF0000"/>
              </a:buClr>
              <a:buSzPct val="100000"/>
              <a:buFont typeface="Noto Sans Symbols"/>
              <a:buChar char="▪"/>
            </a:pPr>
            <a:r>
              <a:rPr b="1" i="0" lang="en-US" sz="8000">
                <a:solidFill>
                  <a:srgbClr val="000000"/>
                </a:solidFill>
                <a:latin typeface="Times New Roman"/>
                <a:ea typeface="Times New Roman"/>
                <a:cs typeface="Times New Roman"/>
                <a:sym typeface="Times New Roman"/>
              </a:rPr>
              <a:t>Synonymy</a:t>
            </a:r>
            <a:r>
              <a:rPr b="0" i="0" lang="en-US" sz="8000">
                <a:solidFill>
                  <a:srgbClr val="000000"/>
                </a:solidFill>
                <a:latin typeface="Times New Roman"/>
                <a:ea typeface="Times New Roman"/>
                <a:cs typeface="Times New Roman"/>
                <a:sym typeface="Times New Roman"/>
              </a:rPr>
              <a:t> refers to the existence of terms with closely related meanings</a:t>
            </a:r>
            <a:r>
              <a:rPr lang="en-US" sz="8000">
                <a:latin typeface="Times New Roman"/>
                <a:ea typeface="Times New Roman"/>
                <a:cs typeface="Times New Roman"/>
                <a:sym typeface="Times New Roman"/>
              </a:rPr>
              <a:t> </a:t>
            </a:r>
            <a:endParaRPr b="0" i="0" sz="8000">
              <a:solidFill>
                <a:srgbClr val="000000"/>
              </a:solidFill>
              <a:latin typeface="Times New Roman"/>
              <a:ea typeface="Times New Roman"/>
              <a:cs typeface="Times New Roman"/>
              <a:sym typeface="Times New Roman"/>
            </a:endParaRPr>
          </a:p>
          <a:p>
            <a:pPr indent="0" lvl="0" marL="0" rtl="0" algn="l">
              <a:lnSpc>
                <a:spcPct val="170000"/>
              </a:lnSpc>
              <a:spcBef>
                <a:spcPts val="1000"/>
              </a:spcBef>
              <a:spcAft>
                <a:spcPts val="0"/>
              </a:spcAft>
              <a:buClr>
                <a:srgbClr val="FF0000"/>
              </a:buClr>
              <a:buSzPct val="100000"/>
              <a:buNone/>
            </a:pPr>
            <a:r>
              <a:rPr b="1" i="0" lang="en-US" sz="8000">
                <a:solidFill>
                  <a:srgbClr val="000000"/>
                </a:solidFill>
                <a:latin typeface="Times New Roman"/>
                <a:ea typeface="Times New Roman"/>
                <a:cs typeface="Times New Roman"/>
                <a:sym typeface="Times New Roman"/>
              </a:rPr>
              <a:t>Ex: </a:t>
            </a:r>
            <a:r>
              <a:rPr b="0" i="0" lang="en-US" sz="8000">
                <a:solidFill>
                  <a:srgbClr val="000000"/>
                </a:solidFill>
                <a:latin typeface="Times New Roman"/>
                <a:ea typeface="Times New Roman"/>
                <a:cs typeface="Times New Roman"/>
                <a:sym typeface="Times New Roman"/>
              </a:rPr>
              <a:t>Ambiguous word ሸቀሸቀ/Merchandise/ with its synonym meaning within the context ነዘነዘ፣ አመመ/It hurts, it hurts/</a:t>
            </a:r>
            <a:r>
              <a:rPr lang="en-US" sz="8000">
                <a:latin typeface="Times New Roman"/>
                <a:ea typeface="Times New Roman"/>
                <a:cs typeface="Times New Roman"/>
                <a:sym typeface="Times New Roman"/>
              </a:rPr>
              <a:t> </a:t>
            </a:r>
            <a:endParaRPr/>
          </a:p>
          <a:p>
            <a:pPr indent="-228600" lvl="0" marL="228600" rtl="0" algn="l">
              <a:lnSpc>
                <a:spcPct val="170000"/>
              </a:lnSpc>
              <a:spcBef>
                <a:spcPts val="1000"/>
              </a:spcBef>
              <a:spcAft>
                <a:spcPts val="0"/>
              </a:spcAft>
              <a:buClr>
                <a:srgbClr val="FF0000"/>
              </a:buClr>
              <a:buSzPct val="100000"/>
              <a:buFont typeface="Noto Sans Symbols"/>
              <a:buChar char="▪"/>
            </a:pPr>
            <a:r>
              <a:rPr b="1" i="0" lang="en-US" sz="8000">
                <a:solidFill>
                  <a:srgbClr val="000000"/>
                </a:solidFill>
                <a:latin typeface="Times New Roman"/>
                <a:ea typeface="Times New Roman"/>
                <a:cs typeface="Times New Roman"/>
                <a:sym typeface="Times New Roman"/>
              </a:rPr>
              <a:t>Hypernym-Hyponym</a:t>
            </a:r>
            <a:r>
              <a:rPr b="1" lang="en-US" sz="8000">
                <a:solidFill>
                  <a:srgbClr val="000000"/>
                </a:solidFill>
                <a:latin typeface="Times New Roman"/>
                <a:ea typeface="Times New Roman"/>
                <a:cs typeface="Times New Roman"/>
                <a:sym typeface="Times New Roman"/>
              </a:rPr>
              <a:t>: </a:t>
            </a:r>
            <a:r>
              <a:rPr b="0" i="0" lang="en-US" sz="8000">
                <a:solidFill>
                  <a:srgbClr val="000000"/>
                </a:solidFill>
                <a:latin typeface="Times New Roman"/>
                <a:ea typeface="Times New Roman"/>
                <a:cs typeface="Times New Roman"/>
                <a:sym typeface="Times New Roman"/>
              </a:rPr>
              <a:t>a semantic relationship between a generic and unique word is represented by hyponymy. Class and sub-class are defined by hypernym and hyponym, respectively</a:t>
            </a:r>
            <a:endParaRPr/>
          </a:p>
          <a:p>
            <a:pPr indent="-228600" lvl="0" marL="228600" rtl="0" algn="l">
              <a:lnSpc>
                <a:spcPct val="170000"/>
              </a:lnSpc>
              <a:spcBef>
                <a:spcPts val="1000"/>
              </a:spcBef>
              <a:spcAft>
                <a:spcPts val="0"/>
              </a:spcAft>
              <a:buClr>
                <a:srgbClr val="FF0000"/>
              </a:buClr>
              <a:buSzPct val="100000"/>
              <a:buFont typeface="Noto Sans Symbols"/>
              <a:buChar char="▪"/>
            </a:pPr>
            <a:r>
              <a:rPr lang="en-US" sz="8000">
                <a:latin typeface="Times New Roman"/>
                <a:ea typeface="Times New Roman"/>
                <a:cs typeface="Times New Roman"/>
                <a:sym typeface="Times New Roman"/>
              </a:rPr>
              <a:t> Example: </a:t>
            </a:r>
            <a:r>
              <a:rPr b="0" i="0" lang="en-US" sz="8000">
                <a:solidFill>
                  <a:srgbClr val="000000"/>
                </a:solidFill>
                <a:latin typeface="Arial"/>
                <a:ea typeface="Arial"/>
                <a:cs typeface="Arial"/>
                <a:sym typeface="Arial"/>
              </a:rPr>
              <a:t>የተሾመው ጠጅ በቤት ውስጥ ከሚዘጋጁ መጠጦች አንዱ ነው</a:t>
            </a:r>
            <a:r>
              <a:rPr b="0" i="0" lang="en-US" sz="8000">
                <a:solidFill>
                  <a:srgbClr val="000000"/>
                </a:solidFill>
                <a:latin typeface="Times New Roman"/>
                <a:ea typeface="Times New Roman"/>
                <a:cs typeface="Times New Roman"/>
                <a:sym typeface="Times New Roman"/>
              </a:rPr>
              <a:t>/Wine is one of the most popular home-made drinks/- Hyponym from the ambiguous word </a:t>
            </a:r>
            <a:r>
              <a:rPr b="0" i="0" lang="en-US" sz="8000">
                <a:solidFill>
                  <a:srgbClr val="000000"/>
                </a:solidFill>
                <a:highlight>
                  <a:srgbClr val="FF0000"/>
                </a:highlight>
                <a:latin typeface="Arial"/>
                <a:ea typeface="Arial"/>
                <a:cs typeface="Arial"/>
                <a:sym typeface="Arial"/>
              </a:rPr>
              <a:t>ሾመ(</a:t>
            </a:r>
            <a:r>
              <a:rPr b="0" i="0" lang="en-US" sz="8000">
                <a:solidFill>
                  <a:srgbClr val="000000"/>
                </a:solidFill>
                <a:highlight>
                  <a:srgbClr val="FF0000"/>
                </a:highlight>
                <a:latin typeface="Times New Roman"/>
                <a:ea typeface="Times New Roman"/>
                <a:cs typeface="Times New Roman"/>
                <a:sym typeface="Times New Roman"/>
              </a:rPr>
              <a:t>hyponym) </a:t>
            </a:r>
            <a:r>
              <a:rPr b="0" i="0" lang="en-US" sz="8000">
                <a:solidFill>
                  <a:srgbClr val="000000"/>
                </a:solidFill>
                <a:latin typeface="Times New Roman"/>
                <a:ea typeface="Times New Roman"/>
                <a:cs typeface="Times New Roman"/>
                <a:sym typeface="Times New Roman"/>
              </a:rPr>
              <a:t>is a kind of Hypernym since it’s the largest class and member relationship. Hyponym of </a:t>
            </a:r>
            <a:r>
              <a:rPr b="0" i="0" lang="en-US" sz="8000">
                <a:solidFill>
                  <a:srgbClr val="000000"/>
                </a:solidFill>
                <a:latin typeface="Arial"/>
                <a:ea typeface="Arial"/>
                <a:cs typeface="Arial"/>
                <a:sym typeface="Arial"/>
              </a:rPr>
              <a:t>መጠጥ </a:t>
            </a:r>
            <a:r>
              <a:rPr b="0" i="0" lang="en-US" sz="8000">
                <a:solidFill>
                  <a:srgbClr val="000000"/>
                </a:solidFill>
                <a:latin typeface="Times New Roman"/>
                <a:ea typeface="Times New Roman"/>
                <a:cs typeface="Times New Roman"/>
                <a:sym typeface="Times New Roman"/>
              </a:rPr>
              <a:t>is </a:t>
            </a:r>
            <a:r>
              <a:rPr b="1" i="0" lang="en-US" sz="8000">
                <a:solidFill>
                  <a:srgbClr val="000000"/>
                </a:solidFill>
                <a:highlight>
                  <a:srgbClr val="FFFF00"/>
                </a:highlight>
                <a:latin typeface="Arial"/>
                <a:ea typeface="Arial"/>
                <a:cs typeface="Arial"/>
                <a:sym typeface="Arial"/>
              </a:rPr>
              <a:t>ጠጅ</a:t>
            </a:r>
            <a:r>
              <a:rPr b="1" i="0" lang="en-US" sz="8000">
                <a:solidFill>
                  <a:srgbClr val="000000"/>
                </a:solidFill>
                <a:highlight>
                  <a:srgbClr val="FFFF00"/>
                </a:highlight>
                <a:latin typeface="Times New Roman"/>
                <a:ea typeface="Times New Roman"/>
                <a:cs typeface="Times New Roman"/>
                <a:sym typeface="Times New Roman"/>
              </a:rPr>
              <a:t>(member)</a:t>
            </a:r>
            <a:r>
              <a:rPr b="1" lang="en-US" sz="8000">
                <a:highlight>
                  <a:srgbClr val="FFFF00"/>
                </a:highlight>
                <a:latin typeface="Times New Roman"/>
                <a:ea typeface="Times New Roman"/>
                <a:cs typeface="Times New Roman"/>
                <a:sym typeface="Times New Roman"/>
              </a:rPr>
              <a:t> </a:t>
            </a:r>
            <a:endParaRPr/>
          </a:p>
          <a:p>
            <a:pPr indent="-228600" lvl="0" marL="228600" rtl="0" algn="l">
              <a:lnSpc>
                <a:spcPct val="170000"/>
              </a:lnSpc>
              <a:spcBef>
                <a:spcPts val="1000"/>
              </a:spcBef>
              <a:spcAft>
                <a:spcPts val="0"/>
              </a:spcAft>
              <a:buClr>
                <a:srgbClr val="FF0000"/>
              </a:buClr>
              <a:buSzPct val="100000"/>
              <a:buChar char="•"/>
            </a:pPr>
            <a:r>
              <a:rPr b="1" i="0" lang="en-US" sz="8000">
                <a:solidFill>
                  <a:srgbClr val="000000"/>
                </a:solidFill>
                <a:latin typeface="Times New Roman"/>
                <a:ea typeface="Times New Roman"/>
                <a:cs typeface="Times New Roman"/>
                <a:sym typeface="Times New Roman"/>
              </a:rPr>
              <a:t>Meronym-Holonomy-</a:t>
            </a:r>
            <a:r>
              <a:rPr b="0" i="0" lang="en-US" sz="8000">
                <a:solidFill>
                  <a:srgbClr val="000000"/>
                </a:solidFill>
                <a:latin typeface="Times New Roman"/>
                <a:ea typeface="Times New Roman"/>
                <a:cs typeface="Times New Roman"/>
                <a:sym typeface="Times New Roman"/>
              </a:rPr>
              <a:t>part of a whole is called a meronymy and the whole of a part is called a</a:t>
            </a:r>
            <a:br>
              <a:rPr b="0" i="0" lang="en-US" sz="8000">
                <a:solidFill>
                  <a:srgbClr val="000000"/>
                </a:solidFill>
                <a:latin typeface="Times New Roman"/>
                <a:ea typeface="Times New Roman"/>
                <a:cs typeface="Times New Roman"/>
                <a:sym typeface="Times New Roman"/>
              </a:rPr>
            </a:br>
            <a:r>
              <a:rPr b="0" i="0" lang="en-US" sz="8000">
                <a:solidFill>
                  <a:srgbClr val="000000"/>
                </a:solidFill>
                <a:latin typeface="Times New Roman"/>
                <a:ea typeface="Times New Roman"/>
                <a:cs typeface="Times New Roman"/>
                <a:sym typeface="Times New Roman"/>
              </a:rPr>
              <a:t>holonomy</a:t>
            </a:r>
            <a:br>
              <a:rPr lang="en-US" sz="4500"/>
            </a:br>
            <a:br>
              <a:rPr lang="en-US"/>
            </a:br>
            <a:br>
              <a:rPr lang="en-US"/>
            </a:br>
            <a:br>
              <a:rPr lang="en-US"/>
            </a:br>
            <a:br>
              <a:rPr lang="en-US"/>
            </a:br>
            <a:br>
              <a:rPr lang="en-US"/>
            </a:br>
            <a:endParaRPr/>
          </a:p>
        </p:txBody>
      </p:sp>
      <p:sp>
        <p:nvSpPr>
          <p:cNvPr id="247" name="Google Shape;2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48" name="Google Shape;248;p19"/>
          <p:cNvSpPr txBox="1"/>
          <p:nvPr>
            <p:ph idx="12" type="sldNum"/>
          </p:nvPr>
        </p:nvSpPr>
        <p:spPr>
          <a:xfrm>
            <a:off x="9969910" y="6356350"/>
            <a:ext cx="1383890"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type="title"/>
          </p:nvPr>
        </p:nvSpPr>
        <p:spPr>
          <a:xfrm>
            <a:off x="838200" y="136525"/>
            <a:ext cx="10515600" cy="62301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3200"/>
              <a:buFont typeface="Times New Roman"/>
              <a:buNone/>
            </a:pPr>
            <a:r>
              <a:rPr b="1" lang="en-US" sz="3200">
                <a:solidFill>
                  <a:srgbClr val="00B0F0"/>
                </a:solidFill>
                <a:latin typeface="Times New Roman"/>
                <a:ea typeface="Times New Roman"/>
                <a:cs typeface="Times New Roman"/>
                <a:sym typeface="Times New Roman"/>
              </a:rPr>
              <a:t>…Lexical Relations </a:t>
            </a:r>
            <a:endParaRPr sz="3200"/>
          </a:p>
        </p:txBody>
      </p:sp>
      <p:sp>
        <p:nvSpPr>
          <p:cNvPr id="254" name="Google Shape;254;p20"/>
          <p:cNvSpPr txBox="1"/>
          <p:nvPr>
            <p:ph idx="1" type="body"/>
          </p:nvPr>
        </p:nvSpPr>
        <p:spPr>
          <a:xfrm>
            <a:off x="383458" y="619432"/>
            <a:ext cx="11592232" cy="5736918"/>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170000"/>
              </a:lnSpc>
              <a:spcBef>
                <a:spcPts val="0"/>
              </a:spcBef>
              <a:spcAft>
                <a:spcPts val="0"/>
              </a:spcAft>
              <a:buClr>
                <a:srgbClr val="FF0000"/>
              </a:buClr>
              <a:buSzPct val="100000"/>
              <a:buFont typeface="Noto Sans Symbols"/>
              <a:buChar char="▪"/>
            </a:pPr>
            <a:r>
              <a:rPr b="0" i="0" lang="en-US" sz="8000">
                <a:solidFill>
                  <a:srgbClr val="000000"/>
                </a:solidFill>
                <a:latin typeface="Times New Roman"/>
                <a:ea typeface="Times New Roman"/>
                <a:cs typeface="Times New Roman"/>
                <a:sym typeface="Times New Roman"/>
              </a:rPr>
              <a:t>Meronomy 1 - ጠላ የተሾመበት እንስራ ጆሮ ተበጠሰ/the jar of the appointed jar is</a:t>
            </a:r>
            <a:br>
              <a:rPr b="0" i="0" lang="en-US" sz="8000">
                <a:solidFill>
                  <a:srgbClr val="000000"/>
                </a:solidFill>
                <a:latin typeface="Times New Roman"/>
                <a:ea typeface="Times New Roman"/>
                <a:cs typeface="Times New Roman"/>
                <a:sym typeface="Times New Roman"/>
              </a:rPr>
            </a:br>
            <a:r>
              <a:rPr b="0" i="0" lang="en-US" sz="8000">
                <a:solidFill>
                  <a:srgbClr val="000000"/>
                </a:solidFill>
                <a:latin typeface="Times New Roman"/>
                <a:ea typeface="Times New Roman"/>
                <a:cs typeface="Times New Roman"/>
                <a:sym typeface="Times New Roman"/>
              </a:rPr>
              <a:t>broken/Meronomy of ጆሮ(part) is እንስራ(whole).</a:t>
            </a:r>
            <a:endParaRPr/>
          </a:p>
          <a:p>
            <a:pPr indent="-228600" lvl="0" marL="228600" rtl="0" algn="l">
              <a:lnSpc>
                <a:spcPct val="170000"/>
              </a:lnSpc>
              <a:spcBef>
                <a:spcPts val="1000"/>
              </a:spcBef>
              <a:spcAft>
                <a:spcPts val="0"/>
              </a:spcAft>
              <a:buClr>
                <a:srgbClr val="FF0000"/>
              </a:buClr>
              <a:buSzPct val="100000"/>
              <a:buChar char="•"/>
            </a:pPr>
            <a:r>
              <a:rPr lang="en-US" sz="8000">
                <a:latin typeface="Times New Roman"/>
                <a:ea typeface="Times New Roman"/>
                <a:cs typeface="Times New Roman"/>
                <a:sym typeface="Times New Roman"/>
              </a:rPr>
              <a:t>Antonymy is a lexical relationship between word forms, not a semantic relationship. Different types of opposites; </a:t>
            </a:r>
            <a:r>
              <a:rPr b="1" i="0" lang="en-US" sz="8000">
                <a:solidFill>
                  <a:srgbClr val="000000"/>
                </a:solidFill>
                <a:latin typeface="Times New Roman"/>
                <a:ea typeface="Times New Roman"/>
                <a:cs typeface="Times New Roman"/>
                <a:sym typeface="Times New Roman"/>
              </a:rPr>
              <a:t>Gradation, Markedness, Converses</a:t>
            </a:r>
            <a:r>
              <a:rPr lang="en-US" sz="8000">
                <a:latin typeface="Times New Roman"/>
                <a:ea typeface="Times New Roman"/>
                <a:cs typeface="Times New Roman"/>
                <a:sym typeface="Times New Roman"/>
              </a:rPr>
              <a:t> </a:t>
            </a:r>
            <a:br>
              <a:rPr lang="en-US" sz="8000">
                <a:latin typeface="Times New Roman"/>
                <a:ea typeface="Times New Roman"/>
                <a:cs typeface="Times New Roman"/>
                <a:sym typeface="Times New Roman"/>
              </a:rPr>
            </a:br>
            <a:r>
              <a:rPr b="0" i="0" lang="en-US" sz="8000">
                <a:solidFill>
                  <a:srgbClr val="000000"/>
                </a:solidFill>
                <a:latin typeface="Times New Roman"/>
                <a:ea typeface="Times New Roman"/>
                <a:cs typeface="Times New Roman"/>
                <a:sym typeface="Times New Roman"/>
              </a:rPr>
              <a:t>Antonym 2 - </a:t>
            </a:r>
            <a:r>
              <a:rPr b="1" i="0" lang="en-US" sz="8000">
                <a:solidFill>
                  <a:srgbClr val="000000"/>
                </a:solidFill>
                <a:latin typeface="Times New Roman"/>
                <a:ea typeface="Times New Roman"/>
                <a:cs typeface="Times New Roman"/>
                <a:sym typeface="Times New Roman"/>
              </a:rPr>
              <a:t>ቀለመ</a:t>
            </a:r>
            <a:r>
              <a:rPr b="0" i="0" lang="en-US" sz="8000">
                <a:solidFill>
                  <a:srgbClr val="000000"/>
                </a:solidFill>
                <a:latin typeface="Times New Roman"/>
                <a:ea typeface="Times New Roman"/>
                <a:cs typeface="Times New Roman"/>
                <a:sym typeface="Times New Roman"/>
              </a:rPr>
              <a:t> ለሚለው ቃል ተቃራኒው ለቀቀ ነው/the opposite is true of the word color</a:t>
            </a:r>
            <a:r>
              <a:rPr lang="en-US" sz="8000">
                <a:latin typeface="Times New Roman"/>
                <a:ea typeface="Times New Roman"/>
                <a:cs typeface="Times New Roman"/>
                <a:sym typeface="Times New Roman"/>
              </a:rPr>
              <a:t> </a:t>
            </a:r>
            <a:endParaRPr/>
          </a:p>
          <a:p>
            <a:pPr indent="-228600" lvl="0" marL="228600" rtl="0" algn="l">
              <a:lnSpc>
                <a:spcPct val="170000"/>
              </a:lnSpc>
              <a:spcBef>
                <a:spcPts val="1000"/>
              </a:spcBef>
              <a:spcAft>
                <a:spcPts val="0"/>
              </a:spcAft>
              <a:buClr>
                <a:srgbClr val="FF0000"/>
              </a:buClr>
              <a:buSzPct val="100000"/>
              <a:buChar char="•"/>
            </a:pPr>
            <a:r>
              <a:rPr b="1" i="0" lang="en-US" sz="8000">
                <a:solidFill>
                  <a:srgbClr val="000000"/>
                </a:solidFill>
                <a:latin typeface="Times New Roman"/>
                <a:ea typeface="Times New Roman"/>
                <a:cs typeface="Times New Roman"/>
                <a:sym typeface="Times New Roman"/>
              </a:rPr>
              <a:t>Homonym Relations- </a:t>
            </a:r>
            <a:r>
              <a:rPr b="0" i="0" lang="en-US" sz="8000">
                <a:solidFill>
                  <a:srgbClr val="000000"/>
                </a:solidFill>
                <a:latin typeface="Times New Roman"/>
                <a:ea typeface="Times New Roman"/>
                <a:cs typeface="Times New Roman"/>
                <a:sym typeface="Times New Roman"/>
              </a:rPr>
              <a:t>Homonym is a relationship that exists between lexemes that have the same word form but are not semantically related.</a:t>
            </a:r>
            <a:endParaRPr/>
          </a:p>
          <a:p>
            <a:pPr indent="-228600" lvl="0" marL="228600" rtl="0" algn="l">
              <a:lnSpc>
                <a:spcPct val="170000"/>
              </a:lnSpc>
              <a:spcBef>
                <a:spcPts val="1000"/>
              </a:spcBef>
              <a:spcAft>
                <a:spcPts val="0"/>
              </a:spcAft>
              <a:buClr>
                <a:srgbClr val="FF0000"/>
              </a:buClr>
              <a:buSzPct val="100000"/>
              <a:buChar char="•"/>
            </a:pPr>
            <a:r>
              <a:rPr b="1" i="0" lang="en-US" sz="8000">
                <a:solidFill>
                  <a:srgbClr val="000000"/>
                </a:solidFill>
                <a:latin typeface="Times New Roman"/>
                <a:ea typeface="Times New Roman"/>
                <a:cs typeface="Times New Roman"/>
                <a:sym typeface="Times New Roman"/>
              </a:rPr>
              <a:t>Toponym Relations- </a:t>
            </a:r>
            <a:r>
              <a:rPr lang="en-US" sz="8000">
                <a:latin typeface="Times New Roman"/>
                <a:ea typeface="Times New Roman"/>
                <a:cs typeface="Times New Roman"/>
                <a:sym typeface="Times New Roman"/>
              </a:rPr>
              <a:t>Troponym is a particular kind of entailment that involves temporal co-extensiveness for the two verbs</a:t>
            </a:r>
            <a:br>
              <a:rPr lang="en-US" sz="8000">
                <a:latin typeface="Times New Roman"/>
                <a:ea typeface="Times New Roman"/>
                <a:cs typeface="Times New Roman"/>
                <a:sym typeface="Times New Roman"/>
              </a:rPr>
            </a:br>
            <a:r>
              <a:rPr lang="en-US" sz="8000">
                <a:latin typeface="Times New Roman"/>
                <a:ea typeface="Times New Roman"/>
                <a:cs typeface="Times New Roman"/>
                <a:sym typeface="Times New Roman"/>
              </a:rPr>
              <a:t>Troponym 1- </a:t>
            </a:r>
            <a:r>
              <a:rPr lang="en-US" sz="8000"/>
              <a:t>የተገፋው ሳንቃ በር ተቀረቀረ።/</a:t>
            </a:r>
            <a:r>
              <a:rPr lang="en-US" sz="8000">
                <a:latin typeface="Times New Roman"/>
                <a:ea typeface="Times New Roman"/>
                <a:cs typeface="Times New Roman"/>
                <a:sym typeface="Times New Roman"/>
              </a:rPr>
              <a:t>The pushed wooden door is locked</a:t>
            </a:r>
            <a:br>
              <a:rPr lang="en-US"/>
            </a:br>
            <a:br>
              <a:rPr lang="en-US"/>
            </a:br>
            <a:endParaRPr/>
          </a:p>
        </p:txBody>
      </p:sp>
      <p:sp>
        <p:nvSpPr>
          <p:cNvPr id="255" name="Google Shape;25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56" name="Google Shape;256;p20"/>
          <p:cNvSpPr txBox="1"/>
          <p:nvPr>
            <p:ph idx="12" type="sldNum"/>
          </p:nvPr>
        </p:nvSpPr>
        <p:spPr>
          <a:xfrm>
            <a:off x="9955160" y="6356350"/>
            <a:ext cx="139863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1"/>
          <p:cNvSpPr txBox="1"/>
          <p:nvPr/>
        </p:nvSpPr>
        <p:spPr>
          <a:xfrm>
            <a:off x="2054425" y="6033210"/>
            <a:ext cx="838743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Figure 2: The general outflow Proposed Automatic WSD System Architecture  </a:t>
            </a:r>
            <a:endParaRPr/>
          </a:p>
        </p:txBody>
      </p:sp>
      <p:sp>
        <p:nvSpPr>
          <p:cNvPr id="262" name="Google Shape;26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63" name="Google Shape;263;p21"/>
          <p:cNvSpPr txBox="1"/>
          <p:nvPr>
            <p:ph idx="12" type="sldNum"/>
          </p:nvPr>
        </p:nvSpPr>
        <p:spPr>
          <a:xfrm>
            <a:off x="10227212" y="6356350"/>
            <a:ext cx="1126588"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000">
              <a:solidFill>
                <a:srgbClr val="FF0000"/>
              </a:solidFill>
              <a:latin typeface="Times New Roman"/>
              <a:ea typeface="Times New Roman"/>
              <a:cs typeface="Times New Roman"/>
              <a:sym typeface="Times New Roman"/>
            </a:endParaRPr>
          </a:p>
        </p:txBody>
      </p:sp>
      <p:sp>
        <p:nvSpPr>
          <p:cNvPr id="264" name="Google Shape;264;p21"/>
          <p:cNvSpPr txBox="1"/>
          <p:nvPr>
            <p:ph type="title"/>
          </p:nvPr>
        </p:nvSpPr>
        <p:spPr>
          <a:xfrm>
            <a:off x="196947" y="136525"/>
            <a:ext cx="11479237" cy="54190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B0F0"/>
              </a:buClr>
              <a:buSzPts val="2800"/>
              <a:buFont typeface="Arial"/>
              <a:buNone/>
            </a:pPr>
            <a:r>
              <a:rPr b="1" lang="en-US" sz="2800">
                <a:solidFill>
                  <a:srgbClr val="00B0F0"/>
                </a:solidFill>
                <a:latin typeface="Arial"/>
                <a:ea typeface="Arial"/>
                <a:cs typeface="Arial"/>
                <a:sym typeface="Arial"/>
              </a:rPr>
              <a:t>Model Building</a:t>
            </a:r>
            <a:endParaRPr/>
          </a:p>
        </p:txBody>
      </p:sp>
      <p:pic>
        <p:nvPicPr>
          <p:cNvPr id="265" name="Google Shape;265;p21"/>
          <p:cNvPicPr preferRelativeResize="0"/>
          <p:nvPr/>
        </p:nvPicPr>
        <p:blipFill rotWithShape="1">
          <a:blip r:embed="rId3">
            <a:alphaModFix/>
          </a:blip>
          <a:srcRect b="0" l="0" r="0" t="0"/>
          <a:stretch/>
        </p:blipFill>
        <p:spPr>
          <a:xfrm>
            <a:off x="1514900" y="678426"/>
            <a:ext cx="9177681" cy="51845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2"/>
          <p:cNvSpPr txBox="1"/>
          <p:nvPr>
            <p:ph type="title"/>
          </p:nvPr>
        </p:nvSpPr>
        <p:spPr>
          <a:xfrm>
            <a:off x="526025" y="136526"/>
            <a:ext cx="11021961" cy="5749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B0F0"/>
              </a:buClr>
              <a:buSzPts val="2400"/>
              <a:buFont typeface="Times New Roman"/>
              <a:buNone/>
            </a:pPr>
            <a:r>
              <a:rPr b="1" lang="en-US" sz="2400">
                <a:solidFill>
                  <a:srgbClr val="00B0F0"/>
                </a:solidFill>
                <a:latin typeface="Times New Roman"/>
                <a:ea typeface="Times New Roman"/>
                <a:cs typeface="Times New Roman"/>
                <a:sym typeface="Times New Roman"/>
              </a:rPr>
              <a:t>Bi-LSTM Model for WSD</a:t>
            </a:r>
            <a:endParaRPr/>
          </a:p>
        </p:txBody>
      </p:sp>
      <p:sp>
        <p:nvSpPr>
          <p:cNvPr id="271" name="Google Shape;27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72" name="Google Shape;272;p22"/>
          <p:cNvSpPr txBox="1"/>
          <p:nvPr>
            <p:ph idx="12" type="sldNum"/>
          </p:nvPr>
        </p:nvSpPr>
        <p:spPr>
          <a:xfrm>
            <a:off x="10309122" y="6356350"/>
            <a:ext cx="1044677"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
        <p:nvSpPr>
          <p:cNvPr id="273" name="Google Shape;273;p22"/>
          <p:cNvSpPr txBox="1"/>
          <p:nvPr/>
        </p:nvSpPr>
        <p:spPr>
          <a:xfrm>
            <a:off x="644013" y="5914103"/>
            <a:ext cx="1070978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Figure 3: The proposed WSD system Architecture  </a:t>
            </a:r>
            <a:endParaRPr/>
          </a:p>
        </p:txBody>
      </p:sp>
      <p:pic>
        <p:nvPicPr>
          <p:cNvPr id="274" name="Google Shape;274;p22"/>
          <p:cNvPicPr preferRelativeResize="0"/>
          <p:nvPr/>
        </p:nvPicPr>
        <p:blipFill rotWithShape="1">
          <a:blip r:embed="rId3">
            <a:alphaModFix/>
          </a:blip>
          <a:srcRect b="0" l="0" r="0" t="0"/>
          <a:stretch/>
        </p:blipFill>
        <p:spPr>
          <a:xfrm>
            <a:off x="1312605" y="711454"/>
            <a:ext cx="9247239" cy="52026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3"/>
          <p:cNvSpPr txBox="1"/>
          <p:nvPr>
            <p:ph type="title"/>
          </p:nvPr>
        </p:nvSpPr>
        <p:spPr>
          <a:xfrm>
            <a:off x="838200" y="365125"/>
            <a:ext cx="10515600" cy="60826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B0F0"/>
              </a:buClr>
              <a:buSzPts val="3600"/>
              <a:buFont typeface="Times New Roman"/>
              <a:buNone/>
            </a:pPr>
            <a:r>
              <a:rPr b="1" lang="en-US" sz="3600">
                <a:solidFill>
                  <a:srgbClr val="00B0F0"/>
                </a:solidFill>
                <a:latin typeface="Times New Roman"/>
                <a:ea typeface="Times New Roman"/>
                <a:cs typeface="Times New Roman"/>
                <a:sym typeface="Times New Roman"/>
              </a:rPr>
              <a:t>Hyperparameter Selection </a:t>
            </a:r>
            <a:endParaRPr/>
          </a:p>
        </p:txBody>
      </p:sp>
      <p:sp>
        <p:nvSpPr>
          <p:cNvPr id="280" name="Google Shape;280;p23"/>
          <p:cNvSpPr txBox="1"/>
          <p:nvPr>
            <p:ph idx="1" type="body"/>
          </p:nvPr>
        </p:nvSpPr>
        <p:spPr>
          <a:xfrm>
            <a:off x="235974" y="973394"/>
            <a:ext cx="11636478" cy="5203569"/>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90000"/>
              </a:lnSpc>
              <a:spcBef>
                <a:spcPts val="0"/>
              </a:spcBef>
              <a:spcAft>
                <a:spcPts val="0"/>
              </a:spcAft>
              <a:buClr>
                <a:schemeClr val="dk1"/>
              </a:buClr>
              <a:buSzPct val="100000"/>
              <a:buNone/>
            </a:pPr>
            <a:r>
              <a:rPr lang="en-US"/>
              <a:t>__________________________________________________________________________</a:t>
            </a:r>
            <a:endParaRPr/>
          </a:p>
          <a:p>
            <a:pPr indent="0" lvl="0" marL="0" rtl="0" algn="l">
              <a:lnSpc>
                <a:spcPct val="150000"/>
              </a:lnSpc>
              <a:spcBef>
                <a:spcPts val="1000"/>
              </a:spcBef>
              <a:spcAft>
                <a:spcPts val="0"/>
              </a:spcAft>
              <a:buClr>
                <a:srgbClr val="000000"/>
              </a:buClr>
              <a:buSzPct val="100000"/>
              <a:buNone/>
            </a:pPr>
            <a:r>
              <a:rPr b="0" i="0" lang="en-US">
                <a:solidFill>
                  <a:srgbClr val="000000"/>
                </a:solidFill>
                <a:latin typeface="Times New Roman"/>
                <a:ea typeface="Times New Roman"/>
                <a:cs typeface="Times New Roman"/>
                <a:sym typeface="Times New Roman"/>
              </a:rPr>
              <a:t>The goal of Hyperparameter Optimization (HPO) is to automate the hyperparameter tuning process and enable users to apply machine learning models to real-world issues. </a:t>
            </a:r>
            <a:endParaRPr/>
          </a:p>
          <a:p>
            <a:pPr indent="-228600" lvl="0" marL="228600" rtl="0" algn="l">
              <a:lnSpc>
                <a:spcPct val="150000"/>
              </a:lnSpc>
              <a:spcBef>
                <a:spcPts val="1000"/>
              </a:spcBef>
              <a:spcAft>
                <a:spcPts val="0"/>
              </a:spcAft>
              <a:buClr>
                <a:srgbClr val="FF0000"/>
              </a:buClr>
              <a:buSzPct val="100000"/>
              <a:buFont typeface="Noto Sans Symbols"/>
              <a:buChar char="▪"/>
            </a:pPr>
            <a:r>
              <a:rPr b="0" i="0" lang="en-US">
                <a:solidFill>
                  <a:srgbClr val="000000"/>
                </a:solidFill>
                <a:latin typeface="Times New Roman"/>
                <a:ea typeface="Times New Roman"/>
                <a:cs typeface="Times New Roman"/>
                <a:sym typeface="Times New Roman"/>
              </a:rPr>
              <a:t>To find ideal hyper-parameters, it's critical to use the right optimization methodology.</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There were a number of hyperparameter selection algorithms from thus we used </a:t>
            </a:r>
            <a:r>
              <a:rPr lang="en-US">
                <a:solidFill>
                  <a:srgbClr val="00B0F0"/>
                </a:solidFill>
                <a:latin typeface="Times New Roman"/>
                <a:ea typeface="Times New Roman"/>
                <a:cs typeface="Times New Roman"/>
                <a:sym typeface="Times New Roman"/>
              </a:rPr>
              <a:t>random search </a:t>
            </a:r>
            <a:r>
              <a:rPr lang="en-US">
                <a:latin typeface="Times New Roman"/>
                <a:ea typeface="Times New Roman"/>
                <a:cs typeface="Times New Roman"/>
                <a:sym typeface="Times New Roman"/>
              </a:rPr>
              <a:t>algorithm.</a:t>
            </a:r>
            <a:endParaRPr/>
          </a:p>
          <a:p>
            <a:pPr indent="-228600" lvl="0" marL="228600" rtl="0" algn="l">
              <a:lnSpc>
                <a:spcPct val="150000"/>
              </a:lnSpc>
              <a:spcBef>
                <a:spcPts val="1000"/>
              </a:spcBef>
              <a:spcAft>
                <a:spcPts val="0"/>
              </a:spcAft>
              <a:buClr>
                <a:srgbClr val="FF0000"/>
              </a:buClr>
              <a:buSzPct val="100000"/>
              <a:buFont typeface="Noto Sans Symbols"/>
              <a:buChar char="▪"/>
            </a:pPr>
            <a:r>
              <a:rPr lang="en-US">
                <a:latin typeface="Times New Roman"/>
                <a:ea typeface="Times New Roman"/>
                <a:cs typeface="Times New Roman"/>
                <a:sym typeface="Times New Roman"/>
              </a:rPr>
              <a:t>It works on finding the best fit hyperparameter by a number of trial based on the given dataset. </a:t>
            </a:r>
            <a:endParaRPr/>
          </a:p>
          <a:p>
            <a:pPr indent="0" lvl="0" marL="0" rtl="0" algn="l">
              <a:lnSpc>
                <a:spcPct val="90000"/>
              </a:lnSpc>
              <a:spcBef>
                <a:spcPts val="1000"/>
              </a:spcBef>
              <a:spcAft>
                <a:spcPts val="0"/>
              </a:spcAft>
              <a:buClr>
                <a:srgbClr val="FF0000"/>
              </a:buClr>
              <a:buSzPct val="100000"/>
              <a:buNone/>
            </a:pPr>
            <a:r>
              <a:t/>
            </a:r>
            <a:endParaRPr/>
          </a:p>
        </p:txBody>
      </p:sp>
      <p:sp>
        <p:nvSpPr>
          <p:cNvPr id="281" name="Google Shape;2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82" name="Google Shape;282;p23"/>
          <p:cNvSpPr txBox="1"/>
          <p:nvPr>
            <p:ph idx="12" type="sldNum"/>
          </p:nvPr>
        </p:nvSpPr>
        <p:spPr>
          <a:xfrm>
            <a:off x="10102644" y="6356350"/>
            <a:ext cx="1251155"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4"/>
          <p:cNvSpPr txBox="1"/>
          <p:nvPr>
            <p:ph idx="1" type="body"/>
          </p:nvPr>
        </p:nvSpPr>
        <p:spPr>
          <a:xfrm>
            <a:off x="191729" y="681038"/>
            <a:ext cx="11878351" cy="5456698"/>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3600"/>
              <a:buNone/>
            </a:pPr>
            <a:r>
              <a:t/>
            </a:r>
            <a:endParaRPr sz="3600"/>
          </a:p>
        </p:txBody>
      </p:sp>
      <p:sp>
        <p:nvSpPr>
          <p:cNvPr id="288" name="Google Shape;28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89" name="Google Shape;289;p24"/>
          <p:cNvSpPr txBox="1"/>
          <p:nvPr>
            <p:ph idx="12" type="sldNum"/>
          </p:nvPr>
        </p:nvSpPr>
        <p:spPr>
          <a:xfrm>
            <a:off x="10255348" y="6407794"/>
            <a:ext cx="1098452" cy="313681"/>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
        <p:nvSpPr>
          <p:cNvPr id="290" name="Google Shape;290;p24"/>
          <p:cNvSpPr txBox="1"/>
          <p:nvPr>
            <p:ph type="title"/>
          </p:nvPr>
        </p:nvSpPr>
        <p:spPr>
          <a:xfrm>
            <a:off x="264941" y="365126"/>
            <a:ext cx="11662117" cy="31591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50"/>
              </a:buClr>
              <a:buSzPct val="100000"/>
              <a:buFont typeface="Times New Roman"/>
              <a:buNone/>
            </a:pPr>
            <a:r>
              <a:rPr b="1" lang="en-US" sz="3200">
                <a:solidFill>
                  <a:srgbClr val="00B050"/>
                </a:solidFill>
                <a:latin typeface="Times New Roman"/>
                <a:ea typeface="Times New Roman"/>
                <a:cs typeface="Times New Roman"/>
                <a:sym typeface="Times New Roman"/>
              </a:rPr>
              <a:t>Hyperparameters of the experiment </a:t>
            </a:r>
            <a:br>
              <a:rPr b="1" lang="en-US" sz="3100">
                <a:solidFill>
                  <a:srgbClr val="00B0F0"/>
                </a:solidFill>
                <a:latin typeface="Times New Roman"/>
                <a:ea typeface="Times New Roman"/>
                <a:cs typeface="Times New Roman"/>
                <a:sym typeface="Times New Roman"/>
              </a:rPr>
            </a:br>
            <a:endParaRPr b="1" sz="3600">
              <a:latin typeface="Times New Roman"/>
              <a:ea typeface="Times New Roman"/>
              <a:cs typeface="Times New Roman"/>
              <a:sym typeface="Times New Roman"/>
            </a:endParaRPr>
          </a:p>
        </p:txBody>
      </p:sp>
      <p:graphicFrame>
        <p:nvGraphicFramePr>
          <p:cNvPr id="291" name="Google Shape;291;p24"/>
          <p:cNvGraphicFramePr/>
          <p:nvPr/>
        </p:nvGraphicFramePr>
        <p:xfrm>
          <a:off x="162232" y="681038"/>
          <a:ext cx="3000000" cy="3000000"/>
        </p:xfrm>
        <a:graphic>
          <a:graphicData uri="http://schemas.openxmlformats.org/drawingml/2006/table">
            <a:tbl>
              <a:tblPr bandRow="1" firstCol="1" firstRow="1">
                <a:noFill/>
                <a:tableStyleId>{24D7A5D4-4609-4B65-A47B-70446DB15927}</a:tableStyleId>
              </a:tblPr>
              <a:tblGrid>
                <a:gridCol w="2858425"/>
                <a:gridCol w="2898725"/>
                <a:gridCol w="2900075"/>
                <a:gridCol w="2900075"/>
              </a:tblGrid>
              <a:tr h="330400">
                <a:tc>
                  <a:txBody>
                    <a:bodyPr/>
                    <a:lstStyle/>
                    <a:p>
                      <a:pPr indent="0" lvl="0" marL="0" marR="0" rtl="0" algn="l">
                        <a:lnSpc>
                          <a:spcPct val="115000"/>
                        </a:lnSpc>
                        <a:spcBef>
                          <a:spcPts val="0"/>
                        </a:spcBef>
                        <a:spcAft>
                          <a:spcPts val="0"/>
                        </a:spcAft>
                        <a:buNone/>
                      </a:pPr>
                      <a:r>
                        <a:rPr b="1" lang="en-US" sz="2000">
                          <a:latin typeface="Times New Roman"/>
                          <a:ea typeface="Times New Roman"/>
                          <a:cs typeface="Times New Roman"/>
                          <a:sym typeface="Times New Roman"/>
                        </a:rPr>
                        <a:t>Hyperparameters </a:t>
                      </a:r>
                      <a:endParaRPr b="1"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1" lang="en-US" sz="2000">
                          <a:latin typeface="Times New Roman"/>
                          <a:ea typeface="Times New Roman"/>
                          <a:cs typeface="Times New Roman"/>
                          <a:sym typeface="Times New Roman"/>
                        </a:rPr>
                        <a:t>Experiment 1</a:t>
                      </a:r>
                      <a:endParaRPr b="1"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1" lang="en-US" sz="2000">
                          <a:latin typeface="Times New Roman"/>
                          <a:ea typeface="Times New Roman"/>
                          <a:cs typeface="Times New Roman"/>
                          <a:sym typeface="Times New Roman"/>
                        </a:rPr>
                        <a:t>Experiment 2</a:t>
                      </a:r>
                      <a:endParaRPr b="1"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1" lang="en-US" sz="2000">
                          <a:latin typeface="Times New Roman"/>
                          <a:ea typeface="Times New Roman"/>
                          <a:cs typeface="Times New Roman"/>
                          <a:sym typeface="Times New Roman"/>
                        </a:rPr>
                        <a:t>Experiment 3</a:t>
                      </a:r>
                      <a:endParaRPr b="1" sz="2000">
                        <a:latin typeface="Times New Roman"/>
                        <a:ea typeface="Times New Roman"/>
                        <a:cs typeface="Times New Roman"/>
                        <a:sym typeface="Times New Roman"/>
                      </a:endParaRPr>
                    </a:p>
                  </a:txBody>
                  <a:tcPr marT="0" marB="0" marR="68575" marL="68575"/>
                </a:tc>
              </a:tr>
              <a:tr h="3304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Random state</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0</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10</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42</a:t>
                      </a:r>
                      <a:endParaRPr b="0" sz="2000">
                        <a:latin typeface="Times New Roman"/>
                        <a:ea typeface="Times New Roman"/>
                        <a:cs typeface="Times New Roman"/>
                        <a:sym typeface="Times New Roman"/>
                      </a:endParaRPr>
                    </a:p>
                  </a:txBody>
                  <a:tcPr marT="0" marB="0" marR="68575" marL="68575"/>
                </a:tc>
              </a:tr>
              <a:tr h="3304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Optimizer </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SGD</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Nadam</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Adam</a:t>
                      </a:r>
                      <a:endParaRPr b="0" sz="2000">
                        <a:latin typeface="Times New Roman"/>
                        <a:ea typeface="Times New Roman"/>
                        <a:cs typeface="Times New Roman"/>
                        <a:sym typeface="Times New Roman"/>
                      </a:endParaRPr>
                    </a:p>
                  </a:txBody>
                  <a:tcPr marT="0" marB="0" marR="68575" marL="68575"/>
                </a:tc>
              </a:tr>
              <a:tr h="3304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Activation </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tanh</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ReLU</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GELU</a:t>
                      </a:r>
                      <a:endParaRPr b="0" sz="2000">
                        <a:latin typeface="Times New Roman"/>
                        <a:ea typeface="Times New Roman"/>
                        <a:cs typeface="Times New Roman"/>
                        <a:sym typeface="Times New Roman"/>
                      </a:endParaRPr>
                    </a:p>
                  </a:txBody>
                  <a:tcPr marT="0" marB="0" marR="68575" marL="68575"/>
                </a:tc>
              </a:tr>
              <a:tr h="3304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Regularize</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 </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 </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L2(0.001)</a:t>
                      </a:r>
                      <a:endParaRPr b="0" sz="2000">
                        <a:latin typeface="Times New Roman"/>
                        <a:ea typeface="Times New Roman"/>
                        <a:cs typeface="Times New Roman"/>
                        <a:sym typeface="Times New Roman"/>
                      </a:endParaRPr>
                    </a:p>
                  </a:txBody>
                  <a:tcPr marT="0" marB="0" marR="68575" marL="68575"/>
                </a:tc>
              </a:tr>
              <a:tr h="3304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Batch size</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32</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16</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8</a:t>
                      </a:r>
                      <a:endParaRPr b="0" sz="2000">
                        <a:latin typeface="Times New Roman"/>
                        <a:ea typeface="Times New Roman"/>
                        <a:cs typeface="Times New Roman"/>
                        <a:sym typeface="Times New Roman"/>
                      </a:endParaRPr>
                    </a:p>
                  </a:txBody>
                  <a:tcPr marT="0" marB="0" marR="68575" marL="68575"/>
                </a:tc>
              </a:tr>
              <a:tr h="3304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Dropout</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0.1</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0.2</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0.39</a:t>
                      </a:r>
                      <a:endParaRPr b="0" sz="2000">
                        <a:latin typeface="Times New Roman"/>
                        <a:ea typeface="Times New Roman"/>
                        <a:cs typeface="Times New Roman"/>
                        <a:sym typeface="Times New Roman"/>
                      </a:endParaRPr>
                    </a:p>
                  </a:txBody>
                  <a:tcPr marT="0" marB="0" marR="68575" marL="68575"/>
                </a:tc>
              </a:tr>
              <a:tr h="3304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Number of Neurons</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100</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60</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40</a:t>
                      </a:r>
                      <a:endParaRPr b="0" sz="2000">
                        <a:latin typeface="Times New Roman"/>
                        <a:ea typeface="Times New Roman"/>
                        <a:cs typeface="Times New Roman"/>
                        <a:sym typeface="Times New Roman"/>
                      </a:endParaRPr>
                    </a:p>
                  </a:txBody>
                  <a:tcPr marT="0" marB="0" marR="68575" marL="68575"/>
                </a:tc>
              </a:tr>
              <a:tr h="3304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Dense layer </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7</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5</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4</a:t>
                      </a:r>
                      <a:endParaRPr b="0" sz="2000">
                        <a:latin typeface="Times New Roman"/>
                        <a:ea typeface="Times New Roman"/>
                        <a:cs typeface="Times New Roman"/>
                        <a:sym typeface="Times New Roman"/>
                      </a:endParaRPr>
                    </a:p>
                  </a:txBody>
                  <a:tcPr marT="0" marB="0" marR="68575" marL="68575"/>
                </a:tc>
              </a:tr>
              <a:tr h="1250375">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Constant Hyperparameters </a:t>
                      </a:r>
                      <a:endParaRPr/>
                    </a:p>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 </a:t>
                      </a:r>
                      <a:endParaRPr/>
                    </a:p>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 </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Emb =Word2vec </a:t>
                      </a:r>
                      <a:endParaRPr/>
                    </a:p>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Split ratio = 0.1</a:t>
                      </a:r>
                      <a:endParaRPr/>
                    </a:p>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Epochs = 10</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Emb = Word2vec </a:t>
                      </a:r>
                      <a:endParaRPr/>
                    </a:p>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Split ratio = 0.1</a:t>
                      </a:r>
                      <a:endParaRPr/>
                    </a:p>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Epochs = 10</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Emb = Word2vec </a:t>
                      </a:r>
                      <a:endParaRPr/>
                    </a:p>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Split ratio = 0.1</a:t>
                      </a:r>
                      <a:endParaRPr/>
                    </a:p>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Epochs = 10</a:t>
                      </a:r>
                      <a:endParaRPr b="0" sz="2000">
                        <a:latin typeface="Times New Roman"/>
                        <a:ea typeface="Times New Roman"/>
                        <a:cs typeface="Times New Roman"/>
                        <a:sym typeface="Times New Roman"/>
                      </a:endParaRPr>
                    </a:p>
                  </a:txBody>
                  <a:tcPr marT="0" marB="0" marR="68575" marL="68575"/>
                </a:tc>
              </a:tr>
              <a:tr h="4109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LSTM</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88%</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82%</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94%</a:t>
                      </a:r>
                      <a:endParaRPr b="0" sz="2000">
                        <a:latin typeface="Times New Roman"/>
                        <a:ea typeface="Times New Roman"/>
                        <a:cs typeface="Times New Roman"/>
                        <a:sym typeface="Times New Roman"/>
                      </a:endParaRPr>
                    </a:p>
                  </a:txBody>
                  <a:tcPr marT="0" marB="0" marR="68575" marL="68575"/>
                </a:tc>
              </a:tr>
              <a:tr h="4109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CNN</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88%</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88%</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91%</a:t>
                      </a:r>
                      <a:endParaRPr b="0" sz="2000">
                        <a:latin typeface="Times New Roman"/>
                        <a:ea typeface="Times New Roman"/>
                        <a:cs typeface="Times New Roman"/>
                        <a:sym typeface="Times New Roman"/>
                      </a:endParaRPr>
                    </a:p>
                  </a:txBody>
                  <a:tcPr marT="0" marB="0" marR="68575" marL="68575"/>
                </a:tc>
              </a:tr>
              <a:tr h="410900">
                <a:tc>
                  <a:txBody>
                    <a:bodyPr/>
                    <a:lstStyle/>
                    <a:p>
                      <a:pPr indent="0" lvl="0" marL="0" marR="0" rtl="0" algn="l">
                        <a:lnSpc>
                          <a:spcPct val="115000"/>
                        </a:lnSpc>
                        <a:spcBef>
                          <a:spcPts val="0"/>
                        </a:spcBef>
                        <a:spcAft>
                          <a:spcPts val="0"/>
                        </a:spcAft>
                        <a:buNone/>
                      </a:pPr>
                      <a:r>
                        <a:rPr b="0" lang="en-US" sz="2000">
                          <a:latin typeface="Times New Roman"/>
                          <a:ea typeface="Times New Roman"/>
                          <a:cs typeface="Times New Roman"/>
                          <a:sym typeface="Times New Roman"/>
                        </a:rPr>
                        <a:t>Bi-LSTM</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94%</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89%</a:t>
                      </a:r>
                      <a:endParaRPr b="0" sz="20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b="0" lang="en-US" sz="2000">
                          <a:latin typeface="Times New Roman"/>
                          <a:ea typeface="Times New Roman"/>
                          <a:cs typeface="Times New Roman"/>
                          <a:sym typeface="Times New Roman"/>
                        </a:rPr>
                        <a:t>96%</a:t>
                      </a:r>
                      <a:endParaRPr b="0" sz="2000">
                        <a:latin typeface="Times New Roman"/>
                        <a:ea typeface="Times New Roman"/>
                        <a:cs typeface="Times New Roman"/>
                        <a:sym typeface="Times New Roman"/>
                      </a:endParaRPr>
                    </a:p>
                  </a:txBody>
                  <a:tcPr marT="0" marB="0" marR="68575" marL="6857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ph type="title"/>
          </p:nvPr>
        </p:nvSpPr>
        <p:spPr>
          <a:xfrm>
            <a:off x="838200" y="190143"/>
            <a:ext cx="10515600" cy="6230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2400"/>
              <a:buFont typeface="Arial"/>
              <a:buNone/>
            </a:pPr>
            <a:r>
              <a:rPr b="1" lang="en-US" sz="2400">
                <a:solidFill>
                  <a:srgbClr val="00B0F0"/>
                </a:solidFill>
                <a:latin typeface="Arial"/>
                <a:ea typeface="Arial"/>
                <a:cs typeface="Arial"/>
                <a:sym typeface="Arial"/>
              </a:rPr>
              <a:t>Experimental Result of CNN model</a:t>
            </a:r>
            <a:endParaRPr b="1" sz="5400">
              <a:solidFill>
                <a:srgbClr val="00B0F0"/>
              </a:solidFill>
              <a:latin typeface="Arial"/>
              <a:ea typeface="Arial"/>
              <a:cs typeface="Arial"/>
              <a:sym typeface="Arial"/>
            </a:endParaRPr>
          </a:p>
        </p:txBody>
      </p:sp>
      <p:sp>
        <p:nvSpPr>
          <p:cNvPr id="297" name="Google Shape;297;p25"/>
          <p:cNvSpPr txBox="1"/>
          <p:nvPr>
            <p:ph idx="1" type="body"/>
          </p:nvPr>
        </p:nvSpPr>
        <p:spPr>
          <a:xfrm>
            <a:off x="324465" y="678426"/>
            <a:ext cx="11474245" cy="5677923"/>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rgbClr val="000000"/>
              </a:buClr>
              <a:buSzPts val="1800"/>
              <a:buNone/>
            </a:pPr>
            <a:r>
              <a:rPr b="0" i="0" lang="en-US" sz="1800">
                <a:solidFill>
                  <a:srgbClr val="000000"/>
                </a:solidFill>
                <a:latin typeface="Times New Roman"/>
                <a:ea typeface="Times New Roman"/>
                <a:cs typeface="Times New Roman"/>
                <a:sym typeface="Times New Roman"/>
              </a:rPr>
              <a:t>Figure 4 shows the training accuracy and validation accuracy of CNN model on automatic Amharic word sense disambiguation problems. This result was better than the remaining experiments of CNN, its validation accuracy and training accuracy gone in the same way without much difference. </a:t>
            </a:r>
            <a:br>
              <a:rPr lang="en-US"/>
            </a:br>
            <a:endParaRPr>
              <a:latin typeface="Times New Roman"/>
              <a:ea typeface="Times New Roman"/>
              <a:cs typeface="Times New Roman"/>
              <a:sym typeface="Times New Roman"/>
            </a:endParaRPr>
          </a:p>
        </p:txBody>
      </p:sp>
      <p:sp>
        <p:nvSpPr>
          <p:cNvPr id="298" name="Google Shape;29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299" name="Google Shape;299;p25"/>
          <p:cNvSpPr txBox="1"/>
          <p:nvPr>
            <p:ph idx="12" type="sldNum"/>
          </p:nvPr>
        </p:nvSpPr>
        <p:spPr>
          <a:xfrm>
            <a:off x="10132142" y="6356350"/>
            <a:ext cx="1221658"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400">
              <a:solidFill>
                <a:srgbClr val="FF0000"/>
              </a:solidFill>
              <a:latin typeface="Times New Roman"/>
              <a:ea typeface="Times New Roman"/>
              <a:cs typeface="Times New Roman"/>
              <a:sym typeface="Times New Roman"/>
            </a:endParaRPr>
          </a:p>
        </p:txBody>
      </p:sp>
      <p:sp>
        <p:nvSpPr>
          <p:cNvPr id="300" name="Google Shape;300;p25"/>
          <p:cNvSpPr txBox="1"/>
          <p:nvPr/>
        </p:nvSpPr>
        <p:spPr>
          <a:xfrm>
            <a:off x="914400" y="6090255"/>
            <a:ext cx="999940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Figure 4: Training Accuracy with Loss of CNN Model </a:t>
            </a:r>
            <a:endParaRPr b="1" i="1" sz="1800">
              <a:solidFill>
                <a:schemeClr val="dk1"/>
              </a:solidFill>
              <a:latin typeface="Times New Roman"/>
              <a:ea typeface="Times New Roman"/>
              <a:cs typeface="Times New Roman"/>
              <a:sym typeface="Times New Roman"/>
            </a:endParaRPr>
          </a:p>
        </p:txBody>
      </p:sp>
      <p:pic>
        <p:nvPicPr>
          <p:cNvPr id="301" name="Google Shape;301;p25"/>
          <p:cNvPicPr preferRelativeResize="0"/>
          <p:nvPr/>
        </p:nvPicPr>
        <p:blipFill rotWithShape="1">
          <a:blip r:embed="rId3">
            <a:alphaModFix/>
          </a:blip>
          <a:srcRect b="0" l="0" r="0" t="0"/>
          <a:stretch/>
        </p:blipFill>
        <p:spPr>
          <a:xfrm>
            <a:off x="622658" y="2227007"/>
            <a:ext cx="5247200" cy="3601360"/>
          </a:xfrm>
          <a:prstGeom prst="rect">
            <a:avLst/>
          </a:prstGeom>
          <a:noFill/>
          <a:ln>
            <a:noFill/>
          </a:ln>
        </p:spPr>
      </p:pic>
      <p:pic>
        <p:nvPicPr>
          <p:cNvPr id="302" name="Google Shape;302;p25"/>
          <p:cNvPicPr preferRelativeResize="0"/>
          <p:nvPr/>
        </p:nvPicPr>
        <p:blipFill rotWithShape="1">
          <a:blip r:embed="rId4">
            <a:alphaModFix/>
          </a:blip>
          <a:srcRect b="0" l="0" r="0" t="0"/>
          <a:stretch/>
        </p:blipFill>
        <p:spPr>
          <a:xfrm>
            <a:off x="5738811" y="2227006"/>
            <a:ext cx="5614989" cy="334788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6"/>
          <p:cNvSpPr txBox="1"/>
          <p:nvPr>
            <p:ph type="title"/>
          </p:nvPr>
        </p:nvSpPr>
        <p:spPr>
          <a:xfrm>
            <a:off x="838200" y="190143"/>
            <a:ext cx="10515600" cy="6230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2400"/>
              <a:buFont typeface="Arial"/>
              <a:buNone/>
            </a:pPr>
            <a:r>
              <a:rPr b="1" lang="en-US" sz="2400">
                <a:solidFill>
                  <a:srgbClr val="00B0F0"/>
                </a:solidFill>
                <a:latin typeface="Arial"/>
                <a:ea typeface="Arial"/>
                <a:cs typeface="Arial"/>
                <a:sym typeface="Arial"/>
              </a:rPr>
              <a:t>Experimental Result of LSTM model</a:t>
            </a:r>
            <a:endParaRPr b="1" sz="5400">
              <a:solidFill>
                <a:srgbClr val="00B0F0"/>
              </a:solidFill>
              <a:latin typeface="Arial"/>
              <a:ea typeface="Arial"/>
              <a:cs typeface="Arial"/>
              <a:sym typeface="Arial"/>
            </a:endParaRPr>
          </a:p>
        </p:txBody>
      </p:sp>
      <p:sp>
        <p:nvSpPr>
          <p:cNvPr id="308" name="Google Shape;308;p26"/>
          <p:cNvSpPr txBox="1"/>
          <p:nvPr>
            <p:ph idx="1" type="body"/>
          </p:nvPr>
        </p:nvSpPr>
        <p:spPr>
          <a:xfrm>
            <a:off x="324465" y="678426"/>
            <a:ext cx="11474245" cy="5677923"/>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rgbClr val="000000"/>
              </a:buClr>
              <a:buSzPts val="2400"/>
              <a:buNone/>
            </a:pPr>
            <a:r>
              <a:rPr b="0" i="0" lang="en-US" sz="2400">
                <a:solidFill>
                  <a:srgbClr val="000000"/>
                </a:solidFill>
                <a:latin typeface="Times New Roman"/>
                <a:ea typeface="Times New Roman"/>
                <a:cs typeface="Times New Roman"/>
                <a:sym typeface="Times New Roman"/>
              </a:rPr>
              <a:t>Training and validation accuracy of LSTM model has good performance as the result presented. The model validation and training accuracy gone on parallelly.</a:t>
            </a:r>
            <a:br>
              <a:rPr lang="en-US"/>
            </a:br>
            <a:endParaRPr>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309" name="Google Shape;30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10" name="Google Shape;310;p26"/>
          <p:cNvSpPr txBox="1"/>
          <p:nvPr>
            <p:ph idx="12" type="sldNum"/>
          </p:nvPr>
        </p:nvSpPr>
        <p:spPr>
          <a:xfrm>
            <a:off x="10132142" y="6356350"/>
            <a:ext cx="1221658"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
        <p:nvSpPr>
          <p:cNvPr id="311" name="Google Shape;311;p26"/>
          <p:cNvSpPr txBox="1"/>
          <p:nvPr/>
        </p:nvSpPr>
        <p:spPr>
          <a:xfrm>
            <a:off x="914400" y="6090255"/>
            <a:ext cx="999940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Figure 5: Training Accuracy with Loss of LSTM Model </a:t>
            </a:r>
            <a:endParaRPr b="1" i="1" sz="1800">
              <a:solidFill>
                <a:schemeClr val="dk1"/>
              </a:solidFill>
              <a:latin typeface="Times New Roman"/>
              <a:ea typeface="Times New Roman"/>
              <a:cs typeface="Times New Roman"/>
              <a:sym typeface="Times New Roman"/>
            </a:endParaRPr>
          </a:p>
        </p:txBody>
      </p:sp>
      <p:pic>
        <p:nvPicPr>
          <p:cNvPr id="312" name="Google Shape;312;p26"/>
          <p:cNvPicPr preferRelativeResize="0"/>
          <p:nvPr/>
        </p:nvPicPr>
        <p:blipFill rotWithShape="1">
          <a:blip r:embed="rId3">
            <a:alphaModFix/>
          </a:blip>
          <a:srcRect b="0" l="0" r="0" t="0"/>
          <a:stretch/>
        </p:blipFill>
        <p:spPr>
          <a:xfrm>
            <a:off x="324464" y="2383911"/>
            <a:ext cx="5419111" cy="3444455"/>
          </a:xfrm>
          <a:prstGeom prst="rect">
            <a:avLst/>
          </a:prstGeom>
          <a:noFill/>
          <a:ln>
            <a:noFill/>
          </a:ln>
        </p:spPr>
      </p:pic>
      <p:pic>
        <p:nvPicPr>
          <p:cNvPr id="313" name="Google Shape;313;p26"/>
          <p:cNvPicPr preferRelativeResize="0"/>
          <p:nvPr/>
        </p:nvPicPr>
        <p:blipFill rotWithShape="1">
          <a:blip r:embed="rId4">
            <a:alphaModFix/>
          </a:blip>
          <a:srcRect b="0" l="0" r="0" t="0"/>
          <a:stretch/>
        </p:blipFill>
        <p:spPr>
          <a:xfrm>
            <a:off x="6096001" y="2252552"/>
            <a:ext cx="5257800" cy="323384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ph type="title"/>
          </p:nvPr>
        </p:nvSpPr>
        <p:spPr>
          <a:xfrm>
            <a:off x="838200" y="190143"/>
            <a:ext cx="10515600" cy="6230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2400"/>
              <a:buFont typeface="Arial"/>
              <a:buNone/>
            </a:pPr>
            <a:r>
              <a:rPr b="1" lang="en-US" sz="2400">
                <a:solidFill>
                  <a:srgbClr val="00B0F0"/>
                </a:solidFill>
                <a:latin typeface="Arial"/>
                <a:ea typeface="Arial"/>
                <a:cs typeface="Arial"/>
                <a:sym typeface="Arial"/>
              </a:rPr>
              <a:t>Experimental Result of Bi-LSTM model</a:t>
            </a:r>
            <a:endParaRPr b="1" sz="5400">
              <a:solidFill>
                <a:srgbClr val="00B0F0"/>
              </a:solidFill>
              <a:latin typeface="Arial"/>
              <a:ea typeface="Arial"/>
              <a:cs typeface="Arial"/>
              <a:sym typeface="Arial"/>
            </a:endParaRPr>
          </a:p>
        </p:txBody>
      </p:sp>
      <p:sp>
        <p:nvSpPr>
          <p:cNvPr id="319" name="Google Shape;319;p27"/>
          <p:cNvSpPr txBox="1"/>
          <p:nvPr>
            <p:ph idx="1" type="body"/>
          </p:nvPr>
        </p:nvSpPr>
        <p:spPr>
          <a:xfrm>
            <a:off x="324465" y="678426"/>
            <a:ext cx="11474245" cy="567792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00"/>
              </a:buClr>
              <a:buSzPts val="2800"/>
              <a:buNone/>
            </a:pPr>
            <a:r>
              <a:rPr b="0" i="0" lang="en-US" sz="2800">
                <a:solidFill>
                  <a:srgbClr val="000000"/>
                </a:solidFill>
                <a:latin typeface="Times New Roman"/>
                <a:ea typeface="Times New Roman"/>
                <a:cs typeface="Times New Roman"/>
                <a:sym typeface="Times New Roman"/>
              </a:rPr>
              <a:t>During this experiment, the training accuracy, and validation accuracy distribution in solving Amharic word sense disambiguation problems which one outperforms from the three experiments displayed by the curve.</a:t>
            </a:r>
            <a:endParaRPr>
              <a:latin typeface="Times New Roman"/>
              <a:ea typeface="Times New Roman"/>
              <a:cs typeface="Times New Roman"/>
              <a:sym typeface="Times New Roman"/>
            </a:endParaRPr>
          </a:p>
        </p:txBody>
      </p:sp>
      <p:sp>
        <p:nvSpPr>
          <p:cNvPr id="320" name="Google Shape;32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21" name="Google Shape;321;p27"/>
          <p:cNvSpPr txBox="1"/>
          <p:nvPr>
            <p:ph idx="12" type="sldNum"/>
          </p:nvPr>
        </p:nvSpPr>
        <p:spPr>
          <a:xfrm>
            <a:off x="10132142" y="6356350"/>
            <a:ext cx="1221658"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100">
              <a:solidFill>
                <a:srgbClr val="FF0000"/>
              </a:solidFill>
            </a:endParaRPr>
          </a:p>
        </p:txBody>
      </p:sp>
      <p:sp>
        <p:nvSpPr>
          <p:cNvPr id="322" name="Google Shape;322;p27"/>
          <p:cNvSpPr txBox="1"/>
          <p:nvPr/>
        </p:nvSpPr>
        <p:spPr>
          <a:xfrm>
            <a:off x="914400" y="6090255"/>
            <a:ext cx="999940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Figure 6: Training and validation  Accuracy and loss of Bi-LSTM Model </a:t>
            </a:r>
            <a:endParaRPr b="1" i="1" sz="1800">
              <a:solidFill>
                <a:schemeClr val="dk1"/>
              </a:solidFill>
              <a:latin typeface="Times New Roman"/>
              <a:ea typeface="Times New Roman"/>
              <a:cs typeface="Times New Roman"/>
              <a:sym typeface="Times New Roman"/>
            </a:endParaRPr>
          </a:p>
        </p:txBody>
      </p:sp>
      <p:pic>
        <p:nvPicPr>
          <p:cNvPr id="323" name="Google Shape;323;p27"/>
          <p:cNvPicPr preferRelativeResize="0"/>
          <p:nvPr/>
        </p:nvPicPr>
        <p:blipFill rotWithShape="1">
          <a:blip r:embed="rId3">
            <a:alphaModFix/>
          </a:blip>
          <a:srcRect b="0" l="0" r="0" t="0"/>
          <a:stretch/>
        </p:blipFill>
        <p:spPr>
          <a:xfrm>
            <a:off x="393290" y="2597875"/>
            <a:ext cx="5294670" cy="3648630"/>
          </a:xfrm>
          <a:prstGeom prst="rect">
            <a:avLst/>
          </a:prstGeom>
          <a:noFill/>
          <a:ln>
            <a:noFill/>
          </a:ln>
        </p:spPr>
      </p:pic>
      <p:pic>
        <p:nvPicPr>
          <p:cNvPr id="324" name="Google Shape;324;p27"/>
          <p:cNvPicPr preferRelativeResize="0"/>
          <p:nvPr/>
        </p:nvPicPr>
        <p:blipFill rotWithShape="1">
          <a:blip r:embed="rId4">
            <a:alphaModFix/>
          </a:blip>
          <a:srcRect b="0" l="0" r="0" t="0"/>
          <a:stretch/>
        </p:blipFill>
        <p:spPr>
          <a:xfrm>
            <a:off x="5348748" y="2597874"/>
            <a:ext cx="6005052" cy="353015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8"/>
          <p:cNvSpPr txBox="1"/>
          <p:nvPr>
            <p:ph type="title"/>
          </p:nvPr>
        </p:nvSpPr>
        <p:spPr>
          <a:xfrm>
            <a:off x="838200" y="365126"/>
            <a:ext cx="10515600" cy="5843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2800"/>
              <a:buFont typeface="Times New Roman"/>
              <a:buNone/>
            </a:pPr>
            <a:r>
              <a:rPr b="1" lang="en-US" sz="2800">
                <a:solidFill>
                  <a:srgbClr val="00B0F0"/>
                </a:solidFill>
                <a:latin typeface="Times New Roman"/>
                <a:ea typeface="Times New Roman"/>
                <a:cs typeface="Times New Roman"/>
                <a:sym typeface="Times New Roman"/>
              </a:rPr>
              <a:t>Confusion matrix of Bi-LSTM Model and Error Analysis</a:t>
            </a:r>
            <a:endParaRPr/>
          </a:p>
        </p:txBody>
      </p:sp>
      <p:sp>
        <p:nvSpPr>
          <p:cNvPr id="330" name="Google Shape;33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31" name="Google Shape;331;p28"/>
          <p:cNvSpPr txBox="1"/>
          <p:nvPr>
            <p:ph idx="12" type="sldNum"/>
          </p:nvPr>
        </p:nvSpPr>
        <p:spPr>
          <a:xfrm>
            <a:off x="10235380" y="6356350"/>
            <a:ext cx="1118419"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050">
              <a:solidFill>
                <a:srgbClr val="FF0000"/>
              </a:solidFill>
            </a:endParaRPr>
          </a:p>
        </p:txBody>
      </p:sp>
      <p:pic>
        <p:nvPicPr>
          <p:cNvPr id="332" name="Google Shape;332;p28"/>
          <p:cNvPicPr preferRelativeResize="0"/>
          <p:nvPr/>
        </p:nvPicPr>
        <p:blipFill rotWithShape="1">
          <a:blip r:embed="rId3">
            <a:alphaModFix/>
          </a:blip>
          <a:srcRect b="0" l="0" r="0" t="0"/>
          <a:stretch/>
        </p:blipFill>
        <p:spPr>
          <a:xfrm>
            <a:off x="383459" y="1194620"/>
            <a:ext cx="10515600" cy="3982064"/>
          </a:xfrm>
          <a:prstGeom prst="rect">
            <a:avLst/>
          </a:prstGeom>
          <a:noFill/>
          <a:ln>
            <a:noFill/>
          </a:ln>
        </p:spPr>
      </p:pic>
      <p:sp>
        <p:nvSpPr>
          <p:cNvPr id="333" name="Google Shape;333;p28"/>
          <p:cNvSpPr txBox="1"/>
          <p:nvPr/>
        </p:nvSpPr>
        <p:spPr>
          <a:xfrm>
            <a:off x="838200" y="5338916"/>
            <a:ext cx="917595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000">
                <a:solidFill>
                  <a:schemeClr val="dk1"/>
                </a:solidFill>
                <a:latin typeface="Times New Roman"/>
                <a:ea typeface="Times New Roman"/>
                <a:cs typeface="Times New Roman"/>
                <a:sym typeface="Times New Roman"/>
              </a:rPr>
              <a:t>Figure 7: Confusion Matrix of Bi-LSTM Model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9"/>
          <p:cNvSpPr txBox="1"/>
          <p:nvPr>
            <p:ph type="title"/>
          </p:nvPr>
        </p:nvSpPr>
        <p:spPr>
          <a:xfrm>
            <a:off x="838200" y="365126"/>
            <a:ext cx="10515600" cy="49028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B0F0"/>
              </a:buClr>
              <a:buSzPct val="100000"/>
              <a:buFont typeface="Times New Roman"/>
              <a:buNone/>
            </a:pPr>
            <a:r>
              <a:rPr b="1" lang="en-US" sz="3200">
                <a:solidFill>
                  <a:srgbClr val="00B0F0"/>
                </a:solidFill>
                <a:latin typeface="Times New Roman"/>
                <a:ea typeface="Times New Roman"/>
                <a:cs typeface="Times New Roman"/>
                <a:sym typeface="Times New Roman"/>
              </a:rPr>
              <a:t>… Error Analysis </a:t>
            </a:r>
            <a:endParaRPr/>
          </a:p>
        </p:txBody>
      </p:sp>
      <p:sp>
        <p:nvSpPr>
          <p:cNvPr id="339" name="Google Shape;339;p29"/>
          <p:cNvSpPr txBox="1"/>
          <p:nvPr>
            <p:ph idx="1" type="body"/>
          </p:nvPr>
        </p:nvSpPr>
        <p:spPr>
          <a:xfrm>
            <a:off x="117987" y="855406"/>
            <a:ext cx="11739715" cy="4997091"/>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20000"/>
              </a:lnSpc>
              <a:spcBef>
                <a:spcPts val="0"/>
              </a:spcBef>
              <a:spcAft>
                <a:spcPts val="0"/>
              </a:spcAft>
              <a:buClr>
                <a:schemeClr val="dk1"/>
              </a:buClr>
              <a:buSzPct val="100000"/>
              <a:buNone/>
            </a:pPr>
            <a:r>
              <a:rPr lang="en-US" sz="8000">
                <a:latin typeface="Times New Roman"/>
                <a:ea typeface="Times New Roman"/>
                <a:cs typeface="Times New Roman"/>
                <a:sym typeface="Times New Roman"/>
              </a:rPr>
              <a:t>The error analysis of this model by MSE, MAE, and RMSE calculated and interpreted in the following way,</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MSE = ((15-15)2+(12-13)2+(14-16)2+(12-13)2+(15-19)2+(14-15)2+(15-15)2+(15-16) 2+(53-53)2)/9</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           = (0+1+4+1+16+1+0+1+0)/9</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           = 24/9</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           = 2.6                                                   RMSE=√MSE</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                                                                       RMSE= √2.6</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                                                                                    = 1.6</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Mean square error gives a positive value for every error since the error is an error and given attention or more weight for larger differences. Since the smaller the mean squared error, the closer fit is to the data point.</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MAE = 1/9(|15-15|+|12-13|+|14-16|+|12-13|+|15-19|+|14-15|+|15-15|+|15-16|+|53-53|)</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         = 1/9(0+1+2+1+4+1+0+1+0)</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        = 1/9(10)</a:t>
            </a:r>
            <a:endParaRPr/>
          </a:p>
          <a:p>
            <a:pPr indent="0" lvl="0" marL="0" rtl="0" algn="l">
              <a:lnSpc>
                <a:spcPct val="120000"/>
              </a:lnSpc>
              <a:spcBef>
                <a:spcPts val="1000"/>
              </a:spcBef>
              <a:spcAft>
                <a:spcPts val="0"/>
              </a:spcAft>
              <a:buClr>
                <a:schemeClr val="dk1"/>
              </a:buClr>
              <a:buSzPct val="100000"/>
              <a:buNone/>
            </a:pPr>
            <a:r>
              <a:rPr lang="en-US" sz="8000">
                <a:latin typeface="Times New Roman"/>
                <a:ea typeface="Times New Roman"/>
                <a:cs typeface="Times New Roman"/>
                <a:sym typeface="Times New Roman"/>
              </a:rPr>
              <a:t>       = 1.11, this result implies an average of 1.11 rate miss classified from every 9 classes.</a:t>
            </a:r>
            <a:endParaRPr/>
          </a:p>
          <a:p>
            <a:pPr indent="0" lvl="0" marL="0" rtl="0" algn="l">
              <a:lnSpc>
                <a:spcPct val="90000"/>
              </a:lnSpc>
              <a:spcBef>
                <a:spcPts val="1000"/>
              </a:spcBef>
              <a:spcAft>
                <a:spcPts val="0"/>
              </a:spcAft>
              <a:buClr>
                <a:schemeClr val="dk1"/>
              </a:buClr>
              <a:buSzPct val="100000"/>
              <a:buNone/>
            </a:pPr>
            <a:r>
              <a:t/>
            </a:r>
            <a:endParaRPr/>
          </a:p>
        </p:txBody>
      </p:sp>
      <p:sp>
        <p:nvSpPr>
          <p:cNvPr id="340" name="Google Shape;34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41" name="Google Shape;341;p29"/>
          <p:cNvSpPr txBox="1"/>
          <p:nvPr>
            <p:ph idx="12" type="sldNum"/>
          </p:nvPr>
        </p:nvSpPr>
        <p:spPr>
          <a:xfrm>
            <a:off x="10235380" y="6356350"/>
            <a:ext cx="1118419"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0"/>
          <p:cNvSpPr txBox="1"/>
          <p:nvPr>
            <p:ph idx="1" type="body"/>
          </p:nvPr>
        </p:nvSpPr>
        <p:spPr>
          <a:xfrm>
            <a:off x="191729" y="1111348"/>
            <a:ext cx="11878351" cy="5245002"/>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latin typeface="Times New Roman"/>
                <a:ea typeface="Times New Roman"/>
                <a:cs typeface="Times New Roman"/>
                <a:sym typeface="Times New Roman"/>
              </a:rPr>
              <a:t>Since, our model performance measured on performance metrics (precision, recall and f1-score). The following table shows an average performance of Bi-LSTM model on three experiments. </a:t>
            </a:r>
            <a:endParaRPr/>
          </a:p>
          <a:p>
            <a:pPr indent="0" lvl="0" marL="0" rtl="0" algn="l">
              <a:lnSpc>
                <a:spcPct val="15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3600"/>
              <a:buNone/>
            </a:pPr>
            <a:r>
              <a:t/>
            </a:r>
            <a:endParaRPr sz="3600"/>
          </a:p>
        </p:txBody>
      </p:sp>
      <p:sp>
        <p:nvSpPr>
          <p:cNvPr id="347" name="Google Shape;34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48" name="Google Shape;348;p30"/>
          <p:cNvSpPr txBox="1"/>
          <p:nvPr>
            <p:ph idx="12" type="sldNum"/>
          </p:nvPr>
        </p:nvSpPr>
        <p:spPr>
          <a:xfrm>
            <a:off x="10255348" y="6356350"/>
            <a:ext cx="1098452"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000">
              <a:solidFill>
                <a:srgbClr val="FF0000"/>
              </a:solidFill>
            </a:endParaRPr>
          </a:p>
        </p:txBody>
      </p:sp>
      <p:sp>
        <p:nvSpPr>
          <p:cNvPr id="349" name="Google Shape;349;p30"/>
          <p:cNvSpPr txBox="1"/>
          <p:nvPr>
            <p:ph type="title"/>
          </p:nvPr>
        </p:nvSpPr>
        <p:spPr>
          <a:xfrm>
            <a:off x="407963" y="353388"/>
            <a:ext cx="11662117" cy="31591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Arial"/>
              <a:buNone/>
            </a:pPr>
            <a:r>
              <a:rPr b="1" lang="en-US" sz="4000">
                <a:solidFill>
                  <a:srgbClr val="00B0F0"/>
                </a:solidFill>
                <a:latin typeface="Arial"/>
                <a:ea typeface="Arial"/>
                <a:cs typeface="Arial"/>
                <a:sym typeface="Arial"/>
              </a:rPr>
              <a:t>Cont</a:t>
            </a:r>
            <a:r>
              <a:rPr b="1" lang="en-US" sz="4000">
                <a:solidFill>
                  <a:srgbClr val="00B0F0"/>
                </a:solidFill>
                <a:latin typeface="Times New Roman"/>
                <a:ea typeface="Times New Roman"/>
                <a:cs typeface="Times New Roman"/>
                <a:sym typeface="Times New Roman"/>
              </a:rPr>
              <a:t>.</a:t>
            </a:r>
            <a:r>
              <a:rPr b="1" lang="en-US" sz="4000">
                <a:latin typeface="Times New Roman"/>
                <a:ea typeface="Times New Roman"/>
                <a:cs typeface="Times New Roman"/>
                <a:sym typeface="Times New Roman"/>
              </a:rPr>
              <a:t> </a:t>
            </a:r>
            <a:br>
              <a:rPr b="1" lang="en-US" sz="3600">
                <a:latin typeface="Times New Roman"/>
                <a:ea typeface="Times New Roman"/>
                <a:cs typeface="Times New Roman"/>
                <a:sym typeface="Times New Roman"/>
              </a:rPr>
            </a:br>
            <a:r>
              <a:rPr b="1" lang="en-US" sz="3600">
                <a:latin typeface="Times New Roman"/>
                <a:ea typeface="Times New Roman"/>
                <a:cs typeface="Times New Roman"/>
                <a:sym typeface="Times New Roman"/>
              </a:rPr>
              <a:t> _______________________________________________________</a:t>
            </a:r>
            <a:endParaRPr/>
          </a:p>
        </p:txBody>
      </p:sp>
      <p:sp>
        <p:nvSpPr>
          <p:cNvPr id="350" name="Google Shape;350;p30"/>
          <p:cNvSpPr txBox="1"/>
          <p:nvPr/>
        </p:nvSpPr>
        <p:spPr>
          <a:xfrm>
            <a:off x="2114238" y="6004034"/>
            <a:ext cx="814111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Figure 8 : performance of Bi-LSTM model on Amharic WSD </a:t>
            </a:r>
            <a:endParaRPr/>
          </a:p>
        </p:txBody>
      </p:sp>
      <p:pic>
        <p:nvPicPr>
          <p:cNvPr id="351" name="Google Shape;351;p30"/>
          <p:cNvPicPr preferRelativeResize="0"/>
          <p:nvPr/>
        </p:nvPicPr>
        <p:blipFill rotWithShape="1">
          <a:blip r:embed="rId3">
            <a:alphaModFix/>
          </a:blip>
          <a:srcRect b="9770" l="0" r="26041" t="0"/>
          <a:stretch/>
        </p:blipFill>
        <p:spPr>
          <a:xfrm>
            <a:off x="1047135" y="2676521"/>
            <a:ext cx="9757439" cy="288546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1"/>
          <p:cNvSpPr txBox="1"/>
          <p:nvPr>
            <p:ph type="title"/>
          </p:nvPr>
        </p:nvSpPr>
        <p:spPr>
          <a:xfrm>
            <a:off x="838200" y="136525"/>
            <a:ext cx="10515600" cy="51977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2800"/>
              <a:buFont typeface="Arial"/>
              <a:buNone/>
            </a:pPr>
            <a:r>
              <a:rPr lang="en-US" sz="2800">
                <a:solidFill>
                  <a:srgbClr val="00B0F0"/>
                </a:solidFill>
                <a:latin typeface="Arial"/>
                <a:ea typeface="Arial"/>
                <a:cs typeface="Arial"/>
                <a:sym typeface="Arial"/>
              </a:rPr>
              <a:t>The overall performance of the three models</a:t>
            </a:r>
            <a:endParaRPr/>
          </a:p>
        </p:txBody>
      </p:sp>
      <p:sp>
        <p:nvSpPr>
          <p:cNvPr id="357" name="Google Shape;35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58" name="Google Shape;358;p31"/>
          <p:cNvSpPr txBox="1"/>
          <p:nvPr>
            <p:ph idx="12" type="sldNum"/>
          </p:nvPr>
        </p:nvSpPr>
        <p:spPr>
          <a:xfrm>
            <a:off x="10250128" y="6356350"/>
            <a:ext cx="1103671"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400">
              <a:solidFill>
                <a:srgbClr val="FF0000"/>
              </a:solidFill>
              <a:latin typeface="Times New Roman"/>
              <a:ea typeface="Times New Roman"/>
              <a:cs typeface="Times New Roman"/>
              <a:sym typeface="Times New Roman"/>
            </a:endParaRPr>
          </a:p>
        </p:txBody>
      </p:sp>
      <p:graphicFrame>
        <p:nvGraphicFramePr>
          <p:cNvPr id="359" name="Google Shape;359;p31"/>
          <p:cNvGraphicFramePr/>
          <p:nvPr/>
        </p:nvGraphicFramePr>
        <p:xfrm>
          <a:off x="270387" y="796414"/>
          <a:ext cx="11651226" cy="4601496"/>
        </p:xfrm>
        <a:graphic>
          <a:graphicData uri="http://schemas.openxmlformats.org/drawingml/2006/chart">
            <c:chart r:id="rId3"/>
          </a:graphicData>
        </a:graphic>
      </p:graphicFrame>
      <p:sp>
        <p:nvSpPr>
          <p:cNvPr id="360" name="Google Shape;360;p31"/>
          <p:cNvSpPr txBox="1"/>
          <p:nvPr/>
        </p:nvSpPr>
        <p:spPr>
          <a:xfrm>
            <a:off x="1268361" y="5589639"/>
            <a:ext cx="106532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Figure 9: Three Deep Learning Algorithms Performance on Amharic WSD </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2"/>
          <p:cNvSpPr txBox="1"/>
          <p:nvPr>
            <p:ph type="title"/>
          </p:nvPr>
        </p:nvSpPr>
        <p:spPr>
          <a:xfrm>
            <a:off x="838200" y="365126"/>
            <a:ext cx="10355826" cy="65251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2400"/>
              <a:buFont typeface="Times New Roman"/>
              <a:buNone/>
            </a:pPr>
            <a:r>
              <a:rPr b="1" lang="en-US" sz="2400">
                <a:solidFill>
                  <a:srgbClr val="00B0F0"/>
                </a:solidFill>
                <a:latin typeface="Times New Roman"/>
                <a:ea typeface="Times New Roman"/>
                <a:cs typeface="Times New Roman"/>
                <a:sym typeface="Times New Roman"/>
              </a:rPr>
              <a:t>The Comparison Results in the Previous Amharic WSD Model and our Model</a:t>
            </a:r>
            <a:endParaRPr sz="5400">
              <a:solidFill>
                <a:srgbClr val="00B0F0"/>
              </a:solidFill>
            </a:endParaRPr>
          </a:p>
        </p:txBody>
      </p:sp>
      <p:graphicFrame>
        <p:nvGraphicFramePr>
          <p:cNvPr id="366" name="Google Shape;366;p32"/>
          <p:cNvGraphicFramePr/>
          <p:nvPr/>
        </p:nvGraphicFramePr>
        <p:xfrm>
          <a:off x="838200" y="1085597"/>
          <a:ext cx="3000000" cy="3000000"/>
        </p:xfrm>
        <a:graphic>
          <a:graphicData uri="http://schemas.openxmlformats.org/drawingml/2006/table">
            <a:tbl>
              <a:tblPr bandRow="1" firstCol="1" firstRow="1">
                <a:noFill/>
                <a:tableStyleId>{341B92FB-D494-4F52-A337-2EEE2A44E116}</a:tableStyleId>
              </a:tblPr>
              <a:tblGrid>
                <a:gridCol w="2734025"/>
                <a:gridCol w="2642400"/>
                <a:gridCol w="2582425"/>
                <a:gridCol w="2746025"/>
              </a:tblGrid>
              <a:tr h="608075">
                <a:tc>
                  <a:txBody>
                    <a:bodyPr/>
                    <a:lstStyle/>
                    <a:p>
                      <a:pPr indent="0" lvl="0" marL="0" marR="0" rtl="0" algn="just">
                        <a:lnSpc>
                          <a:spcPct val="150000"/>
                        </a:lnSpc>
                        <a:spcBef>
                          <a:spcPts val="0"/>
                        </a:spcBef>
                        <a:spcAft>
                          <a:spcPts val="0"/>
                        </a:spcAft>
                        <a:buNone/>
                      </a:pPr>
                      <a:r>
                        <a:rPr lang="en-US" sz="1800">
                          <a:latin typeface="Times New Roman"/>
                          <a:ea typeface="Times New Roman"/>
                          <a:cs typeface="Times New Roman"/>
                          <a:sym typeface="Times New Roman"/>
                        </a:rPr>
                        <a:t>Authors </a:t>
                      </a:r>
                      <a:endParaRPr sz="1600">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800">
                          <a:latin typeface="Times New Roman"/>
                          <a:ea typeface="Times New Roman"/>
                          <a:cs typeface="Times New Roman"/>
                          <a:sym typeface="Times New Roman"/>
                        </a:rPr>
                        <a:t>Approach </a:t>
                      </a:r>
                      <a:endParaRPr sz="1600">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800">
                          <a:latin typeface="Times New Roman"/>
                          <a:ea typeface="Times New Roman"/>
                          <a:cs typeface="Times New Roman"/>
                          <a:sym typeface="Times New Roman"/>
                        </a:rPr>
                        <a:t>Size of dataset </a:t>
                      </a:r>
                      <a:endParaRPr sz="1600">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800">
                          <a:latin typeface="Times New Roman"/>
                          <a:ea typeface="Times New Roman"/>
                          <a:cs typeface="Times New Roman"/>
                          <a:sym typeface="Times New Roman"/>
                        </a:rPr>
                        <a:t>Accuracy </a:t>
                      </a:r>
                      <a:endParaRPr sz="1600">
                        <a:latin typeface="Times New Roman"/>
                        <a:ea typeface="Times New Roman"/>
                        <a:cs typeface="Times New Roman"/>
                        <a:sym typeface="Times New Roman"/>
                      </a:endParaRPr>
                    </a:p>
                  </a:txBody>
                  <a:tcPr marT="0" marB="0" marR="68575" marL="68575"/>
                </a:tc>
              </a:tr>
              <a:tr h="1446550">
                <a:tc>
                  <a:txBody>
                    <a:bodyPr/>
                    <a:lstStyle/>
                    <a:p>
                      <a:pPr indent="0" lvl="0" marL="0" marR="0" rtl="0" algn="just">
                        <a:lnSpc>
                          <a:spcPct val="150000"/>
                        </a:lnSpc>
                        <a:spcBef>
                          <a:spcPts val="0"/>
                        </a:spcBef>
                        <a:spcAft>
                          <a:spcPts val="0"/>
                        </a:spcAft>
                        <a:buNone/>
                      </a:pPr>
                      <a:r>
                        <a:rPr lang="en-US" sz="1800">
                          <a:latin typeface="Times New Roman"/>
                          <a:ea typeface="Times New Roman"/>
                          <a:cs typeface="Times New Roman"/>
                          <a:sym typeface="Times New Roman"/>
                        </a:rPr>
                        <a:t>Mulugeta et al. 2019</a:t>
                      </a:r>
                      <a:endParaRPr sz="16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lang="en-US" sz="1800">
                          <a:latin typeface="Times New Roman"/>
                          <a:ea typeface="Times New Roman"/>
                          <a:cs typeface="Times New Roman"/>
                          <a:sym typeface="Times New Roman"/>
                        </a:rPr>
                        <a:t>Knowledge base (context overlap and augmented semantic space)</a:t>
                      </a:r>
                      <a:endParaRPr sz="16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lang="en-US" sz="1800">
                          <a:latin typeface="Times New Roman"/>
                          <a:ea typeface="Times New Roman"/>
                          <a:cs typeface="Times New Roman"/>
                          <a:sym typeface="Times New Roman"/>
                        </a:rPr>
                        <a:t>17 words and 350 sentences for testing only </a:t>
                      </a:r>
                      <a:endParaRPr sz="1600">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800">
                          <a:latin typeface="Times New Roman"/>
                          <a:ea typeface="Times New Roman"/>
                          <a:cs typeface="Times New Roman"/>
                          <a:sym typeface="Times New Roman"/>
                        </a:rPr>
                        <a:t>80% accurate </a:t>
                      </a:r>
                      <a:endParaRPr sz="1600">
                        <a:latin typeface="Times New Roman"/>
                        <a:ea typeface="Times New Roman"/>
                        <a:cs typeface="Times New Roman"/>
                        <a:sym typeface="Times New Roman"/>
                      </a:endParaRPr>
                    </a:p>
                  </a:txBody>
                  <a:tcPr marT="0" marB="0" marR="68575" marL="68575"/>
                </a:tc>
              </a:tr>
              <a:tr h="1446550">
                <a:tc>
                  <a:txBody>
                    <a:bodyPr/>
                    <a:lstStyle/>
                    <a:p>
                      <a:pPr indent="0" lvl="0" marL="0" marR="0" rtl="0" algn="just">
                        <a:lnSpc>
                          <a:spcPct val="150000"/>
                        </a:lnSpc>
                        <a:spcBef>
                          <a:spcPts val="0"/>
                        </a:spcBef>
                        <a:spcAft>
                          <a:spcPts val="0"/>
                        </a:spcAft>
                        <a:buNone/>
                      </a:pPr>
                      <a:r>
                        <a:rPr lang="en-US" sz="1800">
                          <a:latin typeface="Times New Roman"/>
                          <a:ea typeface="Times New Roman"/>
                          <a:cs typeface="Times New Roman"/>
                          <a:sym typeface="Times New Roman"/>
                        </a:rPr>
                        <a:t>Our Experiment </a:t>
                      </a:r>
                      <a:endParaRPr sz="16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lang="en-US" sz="1800">
                          <a:latin typeface="Times New Roman"/>
                          <a:ea typeface="Times New Roman"/>
                          <a:cs typeface="Times New Roman"/>
                          <a:sym typeface="Times New Roman"/>
                        </a:rPr>
                        <a:t>Deep learning (Bi-LSTM)</a:t>
                      </a:r>
                      <a:endParaRPr sz="1600">
                        <a:latin typeface="Times New Roman"/>
                        <a:ea typeface="Times New Roman"/>
                        <a:cs typeface="Times New Roman"/>
                        <a:sym typeface="Times New Roman"/>
                      </a:endParaRPr>
                    </a:p>
                  </a:txBody>
                  <a:tcPr marT="0" marB="0" marR="68575" marL="68575"/>
                </a:tc>
                <a:tc>
                  <a:txBody>
                    <a:bodyPr/>
                    <a:lstStyle/>
                    <a:p>
                      <a:pPr indent="0" lvl="0" marL="0" marR="0" rtl="0" algn="l">
                        <a:lnSpc>
                          <a:spcPct val="150000"/>
                        </a:lnSpc>
                        <a:spcBef>
                          <a:spcPts val="0"/>
                        </a:spcBef>
                        <a:spcAft>
                          <a:spcPts val="0"/>
                        </a:spcAft>
                        <a:buNone/>
                      </a:pPr>
                      <a:r>
                        <a:rPr lang="en-US" sz="1800">
                          <a:latin typeface="Times New Roman"/>
                          <a:ea typeface="Times New Roman"/>
                          <a:cs typeface="Times New Roman"/>
                          <a:sym typeface="Times New Roman"/>
                        </a:rPr>
                        <a:t>159 words, 460 synsets, and 2164 sentences for testing and training </a:t>
                      </a:r>
                      <a:endParaRPr sz="1600">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800">
                          <a:latin typeface="Times New Roman"/>
                          <a:ea typeface="Times New Roman"/>
                          <a:cs typeface="Times New Roman"/>
                          <a:sym typeface="Times New Roman"/>
                        </a:rPr>
                        <a:t>96% accurate </a:t>
                      </a:r>
                      <a:endParaRPr sz="1600">
                        <a:latin typeface="Times New Roman"/>
                        <a:ea typeface="Times New Roman"/>
                        <a:cs typeface="Times New Roman"/>
                        <a:sym typeface="Times New Roman"/>
                      </a:endParaRPr>
                    </a:p>
                  </a:txBody>
                  <a:tcPr marT="0" marB="0" marR="68575" marL="68575"/>
                </a:tc>
              </a:tr>
            </a:tbl>
          </a:graphicData>
        </a:graphic>
      </p:graphicFrame>
      <p:sp>
        <p:nvSpPr>
          <p:cNvPr id="367" name="Google Shape;36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68" name="Google Shape;368;p32"/>
          <p:cNvSpPr txBox="1"/>
          <p:nvPr>
            <p:ph idx="12" type="sldNum"/>
          </p:nvPr>
        </p:nvSpPr>
        <p:spPr>
          <a:xfrm>
            <a:off x="10353368" y="6356350"/>
            <a:ext cx="1000432"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050">
              <a:solidFill>
                <a:srgbClr val="FF0000"/>
              </a:solidFill>
              <a:latin typeface="Times New Roman"/>
              <a:ea typeface="Times New Roman"/>
              <a:cs typeface="Times New Roman"/>
              <a:sym typeface="Times New Roman"/>
            </a:endParaRPr>
          </a:p>
        </p:txBody>
      </p:sp>
      <p:sp>
        <p:nvSpPr>
          <p:cNvPr id="369" name="Google Shape;369;p32"/>
          <p:cNvSpPr txBox="1"/>
          <p:nvPr/>
        </p:nvSpPr>
        <p:spPr>
          <a:xfrm>
            <a:off x="838200" y="4763729"/>
            <a:ext cx="10650794" cy="113396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The research comparison has been done due to problem similarity but the model and dataset strictly differ</a:t>
            </a:r>
            <a:r>
              <a:rPr lang="en-US" sz="1800">
                <a:solidFill>
                  <a:schemeClr val="dk1"/>
                </a:solidFill>
                <a:latin typeface="Times New Roman"/>
                <a:ea typeface="Times New Roman"/>
                <a:cs typeface="Times New Roman"/>
                <a:sym typeface="Times New Roman"/>
              </a:rPr>
              <a:t>. </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3"/>
          <p:cNvSpPr txBox="1"/>
          <p:nvPr>
            <p:ph type="title"/>
          </p:nvPr>
        </p:nvSpPr>
        <p:spPr>
          <a:xfrm>
            <a:off x="344129" y="45551"/>
            <a:ext cx="10515600" cy="663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3600"/>
              <a:buFont typeface="Times New Roman"/>
              <a:buNone/>
            </a:pPr>
            <a:r>
              <a:rPr b="1" lang="en-US" sz="3600">
                <a:solidFill>
                  <a:srgbClr val="00B0F0"/>
                </a:solidFill>
                <a:latin typeface="Times New Roman"/>
                <a:ea typeface="Times New Roman"/>
                <a:cs typeface="Times New Roman"/>
                <a:sym typeface="Times New Roman"/>
              </a:rPr>
              <a:t>Conclusion </a:t>
            </a:r>
            <a:endParaRPr/>
          </a:p>
        </p:txBody>
      </p:sp>
      <p:sp>
        <p:nvSpPr>
          <p:cNvPr id="375" name="Google Shape;375;p33"/>
          <p:cNvSpPr txBox="1"/>
          <p:nvPr>
            <p:ph idx="1" type="body"/>
          </p:nvPr>
        </p:nvSpPr>
        <p:spPr>
          <a:xfrm>
            <a:off x="344129" y="709228"/>
            <a:ext cx="11503742" cy="564712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_______________________________________________________________</a:t>
            </a:r>
            <a:endParaRPr/>
          </a:p>
          <a:p>
            <a:pPr indent="-228600" lvl="0" marL="228600" rtl="0" algn="l">
              <a:lnSpc>
                <a:spcPct val="150000"/>
              </a:lnSpc>
              <a:spcBef>
                <a:spcPts val="1000"/>
              </a:spcBef>
              <a:spcAft>
                <a:spcPts val="0"/>
              </a:spcAft>
              <a:buClr>
                <a:srgbClr val="FF0000"/>
              </a:buClr>
              <a:buSzPts val="2400"/>
              <a:buFont typeface="Noto Sans Symbols"/>
              <a:buChar char="⮚"/>
            </a:pPr>
            <a:r>
              <a:rPr lang="en-US" sz="2400">
                <a:latin typeface="Times New Roman"/>
                <a:ea typeface="Times New Roman"/>
                <a:cs typeface="Times New Roman"/>
                <a:sym typeface="Times New Roman"/>
              </a:rPr>
              <a:t>According to the results, LSTM, CNN, and Bi-LSTM obtained 88 percent, 89 percent, and 93 percent average accuracy during the three experiments, respectively. </a:t>
            </a:r>
            <a:endParaRPr/>
          </a:p>
          <a:p>
            <a:pPr indent="-228600" lvl="0" marL="228600" rtl="0" algn="l">
              <a:lnSpc>
                <a:spcPct val="150000"/>
              </a:lnSpc>
              <a:spcBef>
                <a:spcPts val="1000"/>
              </a:spcBef>
              <a:spcAft>
                <a:spcPts val="0"/>
              </a:spcAft>
              <a:buClr>
                <a:srgbClr val="FF0000"/>
              </a:buClr>
              <a:buSzPts val="2400"/>
              <a:buFont typeface="Noto Sans Symbols"/>
              <a:buChar char="⮚"/>
            </a:pPr>
            <a:r>
              <a:rPr lang="en-US" sz="2400">
                <a:latin typeface="Times New Roman"/>
                <a:ea typeface="Times New Roman"/>
                <a:cs typeface="Times New Roman"/>
                <a:sym typeface="Times New Roman"/>
              </a:rPr>
              <a:t>Bi- LSTM, rather than the other models, obtained the state-of-the-art outcome by obtaining 96 percent accuracy, according to the experimental results. Besides, we used a Bi-LSTM model for solving Amharic ambiguity problems. </a:t>
            </a:r>
            <a:endParaRPr/>
          </a:p>
          <a:p>
            <a:pPr indent="-228600" lvl="0" marL="228600" rtl="0" algn="l">
              <a:lnSpc>
                <a:spcPct val="150000"/>
              </a:lnSpc>
              <a:spcBef>
                <a:spcPts val="1000"/>
              </a:spcBef>
              <a:spcAft>
                <a:spcPts val="0"/>
              </a:spcAft>
              <a:buClr>
                <a:srgbClr val="FF0000"/>
              </a:buClr>
              <a:buSzPts val="2400"/>
              <a:buFont typeface="Noto Sans Symbols"/>
              <a:buChar char="⮚"/>
            </a:pPr>
            <a:r>
              <a:rPr lang="en-US" sz="2400">
                <a:latin typeface="Times New Roman"/>
                <a:ea typeface="Times New Roman"/>
                <a:cs typeface="Times New Roman"/>
                <a:sym typeface="Times New Roman"/>
              </a:rPr>
              <a:t>The preparation of sentence datasets and language resource constraints, such as SemCor of Amharic, were also obstacles in this study. </a:t>
            </a:r>
            <a:endParaRPr/>
          </a:p>
          <a:p>
            <a:pPr indent="-228600" lvl="0" marL="228600" rtl="0" algn="l">
              <a:lnSpc>
                <a:spcPct val="150000"/>
              </a:lnSpc>
              <a:spcBef>
                <a:spcPts val="1000"/>
              </a:spcBef>
              <a:spcAft>
                <a:spcPts val="0"/>
              </a:spcAft>
              <a:buClr>
                <a:srgbClr val="FF0000"/>
              </a:buClr>
              <a:buSzPts val="2400"/>
              <a:buFont typeface="Noto Sans Symbols"/>
              <a:buChar char="⮚"/>
            </a:pPr>
            <a:r>
              <a:rPr lang="en-US" sz="2400">
                <a:latin typeface="Times New Roman"/>
                <a:ea typeface="Times New Roman"/>
                <a:cs typeface="Times New Roman"/>
                <a:sym typeface="Times New Roman"/>
              </a:rPr>
              <a:t>Even though the dataset and models were different, the research outperformed earlier studies by 16 percent.</a:t>
            </a:r>
            <a:endParaRPr/>
          </a:p>
          <a:p>
            <a:pPr indent="-50800" lvl="0" marL="228600" rtl="0" algn="l">
              <a:lnSpc>
                <a:spcPct val="90000"/>
              </a:lnSpc>
              <a:spcBef>
                <a:spcPts val="1000"/>
              </a:spcBef>
              <a:spcAft>
                <a:spcPts val="0"/>
              </a:spcAft>
              <a:buClr>
                <a:srgbClr val="FF0000"/>
              </a:buClr>
              <a:buSzPts val="2800"/>
              <a:buFont typeface="Noto Sans Symbols"/>
              <a:buNone/>
            </a:pPr>
            <a:r>
              <a:t/>
            </a:r>
            <a:endParaRPr/>
          </a:p>
        </p:txBody>
      </p:sp>
      <p:sp>
        <p:nvSpPr>
          <p:cNvPr id="376" name="Google Shape;37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77" name="Google Shape;377;p33"/>
          <p:cNvSpPr txBox="1"/>
          <p:nvPr>
            <p:ph idx="12" type="sldNum"/>
          </p:nvPr>
        </p:nvSpPr>
        <p:spPr>
          <a:xfrm>
            <a:off x="10014154" y="6356350"/>
            <a:ext cx="1339645"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Calibri"/>
                <a:ea typeface="Calibri"/>
                <a:cs typeface="Calibri"/>
                <a:sym typeface="Calibri"/>
              </a:rPr>
              <a:t>‹#›</a:t>
            </a:fld>
            <a:endParaRPr b="1" sz="140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4"/>
          <p:cNvSpPr txBox="1"/>
          <p:nvPr>
            <p:ph type="title"/>
          </p:nvPr>
        </p:nvSpPr>
        <p:spPr>
          <a:xfrm>
            <a:off x="454741" y="191935"/>
            <a:ext cx="10515600" cy="608268"/>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B0F0"/>
              </a:buClr>
              <a:buSzPts val="3200"/>
              <a:buFont typeface="Times New Roman"/>
              <a:buNone/>
            </a:pPr>
            <a:r>
              <a:rPr b="1" lang="en-US" sz="3200">
                <a:solidFill>
                  <a:srgbClr val="00B0F0"/>
                </a:solidFill>
                <a:latin typeface="Times New Roman"/>
                <a:ea typeface="Times New Roman"/>
                <a:cs typeface="Times New Roman"/>
                <a:sym typeface="Times New Roman"/>
              </a:rPr>
              <a:t>Future work </a:t>
            </a:r>
            <a:endParaRPr/>
          </a:p>
        </p:txBody>
      </p:sp>
      <p:sp>
        <p:nvSpPr>
          <p:cNvPr id="383" name="Google Shape;383;p34"/>
          <p:cNvSpPr txBox="1"/>
          <p:nvPr>
            <p:ph idx="1" type="body"/>
          </p:nvPr>
        </p:nvSpPr>
        <p:spPr>
          <a:xfrm>
            <a:off x="454741" y="669260"/>
            <a:ext cx="11282517" cy="582361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_____________________________________________________________</a:t>
            </a:r>
            <a:endParaRPr/>
          </a:p>
          <a:p>
            <a:pPr indent="0" lvl="0" marL="0" rtl="0" algn="just">
              <a:lnSpc>
                <a:spcPct val="150000"/>
              </a:lnSpc>
              <a:spcBef>
                <a:spcPts val="0"/>
              </a:spcBef>
              <a:spcAft>
                <a:spcPts val="0"/>
              </a:spcAft>
              <a:buClr>
                <a:srgbClr val="000000"/>
              </a:buClr>
              <a:buSzPts val="1200"/>
              <a:buNone/>
            </a:pPr>
            <a:r>
              <a:rPr lang="en-US" sz="2400">
                <a:solidFill>
                  <a:srgbClr val="000000"/>
                </a:solidFill>
                <a:latin typeface="Times New Roman"/>
                <a:ea typeface="Times New Roman"/>
                <a:cs typeface="Times New Roman"/>
                <a:sym typeface="Times New Roman"/>
              </a:rPr>
              <a:t>The substance of and entailment members of meronomy were not handled in this study. So, we recommended the following points in the study:</a:t>
            </a:r>
            <a:endParaRPr sz="2400">
              <a:latin typeface="Times New Roman"/>
              <a:ea typeface="Times New Roman"/>
              <a:cs typeface="Times New Roman"/>
              <a:sym typeface="Times New Roman"/>
            </a:endParaRPr>
          </a:p>
          <a:p>
            <a:pPr indent="-228600" lvl="0" marL="228600" marR="0" rtl="0" algn="just">
              <a:lnSpc>
                <a:spcPct val="150000"/>
              </a:lnSpc>
              <a:spcBef>
                <a:spcPts val="0"/>
              </a:spcBef>
              <a:spcAft>
                <a:spcPts val="0"/>
              </a:spcAft>
              <a:buClr>
                <a:srgbClr val="FF0000"/>
              </a:buClr>
              <a:buSzPts val="1200"/>
              <a:buFont typeface="Noto Sans Symbols"/>
              <a:buChar char="⮚"/>
            </a:pPr>
            <a:r>
              <a:rPr lang="en-US" sz="2400">
                <a:solidFill>
                  <a:srgbClr val="000000"/>
                </a:solidFill>
                <a:latin typeface="Times New Roman"/>
                <a:ea typeface="Times New Roman"/>
                <a:cs typeface="Times New Roman"/>
                <a:sym typeface="Times New Roman"/>
              </a:rPr>
              <a:t>Designing automatic Amharic word sense disambiguation model which includes the two meronomy relations the substance of and entailment.</a:t>
            </a:r>
            <a:endParaRPr/>
          </a:p>
          <a:p>
            <a:pPr indent="-228600" lvl="0" marL="228600" marR="0" rtl="0" algn="just">
              <a:lnSpc>
                <a:spcPct val="150000"/>
              </a:lnSpc>
              <a:spcBef>
                <a:spcPts val="0"/>
              </a:spcBef>
              <a:spcAft>
                <a:spcPts val="0"/>
              </a:spcAft>
              <a:buClr>
                <a:srgbClr val="FF0000"/>
              </a:buClr>
              <a:buSzPts val="1200"/>
              <a:buFont typeface="Noto Sans Symbols"/>
              <a:buChar char="⮚"/>
            </a:pPr>
            <a:r>
              <a:rPr lang="en-US" sz="2400">
                <a:solidFill>
                  <a:srgbClr val="000000"/>
                </a:solidFill>
                <a:latin typeface="Times New Roman"/>
                <a:ea typeface="Times New Roman"/>
                <a:cs typeface="Times New Roman"/>
                <a:sym typeface="Times New Roman"/>
              </a:rPr>
              <a:t>Designing Amharic word sense disambiguation model that considers structural ambiguity, phonological ambiguity, and referential ambiguity. </a:t>
            </a:r>
            <a:endParaRPr/>
          </a:p>
          <a:p>
            <a:pPr indent="-228600" lvl="0" marL="228600" marR="0" rtl="0" algn="just">
              <a:lnSpc>
                <a:spcPct val="150000"/>
              </a:lnSpc>
              <a:spcBef>
                <a:spcPts val="0"/>
              </a:spcBef>
              <a:spcAft>
                <a:spcPts val="0"/>
              </a:spcAft>
              <a:buClr>
                <a:srgbClr val="FF0000"/>
              </a:buClr>
              <a:buSzPts val="1200"/>
              <a:buFont typeface="Noto Sans Symbols"/>
              <a:buChar char="⮚"/>
            </a:pPr>
            <a:r>
              <a:rPr lang="en-US" sz="2400">
                <a:latin typeface="Times New Roman"/>
                <a:ea typeface="Times New Roman"/>
                <a:cs typeface="Times New Roman"/>
                <a:sym typeface="Times New Roman"/>
              </a:rPr>
              <a:t>Designing Automatic word sense disambiguation model by using contextual embedding by using BERT without WordNet by applying transfer learning.</a:t>
            </a:r>
            <a:endParaRPr/>
          </a:p>
          <a:p>
            <a:pPr indent="0" lvl="0" marL="0" rtl="0" algn="l">
              <a:lnSpc>
                <a:spcPct val="90000"/>
              </a:lnSpc>
              <a:spcBef>
                <a:spcPts val="1000"/>
              </a:spcBef>
              <a:spcAft>
                <a:spcPts val="0"/>
              </a:spcAft>
              <a:buClr>
                <a:schemeClr val="dk1"/>
              </a:buClr>
              <a:buSzPts val="2800"/>
              <a:buNone/>
            </a:pPr>
            <a:r>
              <a:t/>
            </a:r>
            <a:endParaRPr/>
          </a:p>
        </p:txBody>
      </p:sp>
      <p:sp>
        <p:nvSpPr>
          <p:cNvPr id="384" name="Google Shape;38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85" name="Google Shape;385;p34"/>
          <p:cNvSpPr txBox="1"/>
          <p:nvPr>
            <p:ph idx="12" type="sldNum"/>
          </p:nvPr>
        </p:nvSpPr>
        <p:spPr>
          <a:xfrm>
            <a:off x="10161638" y="6356350"/>
            <a:ext cx="1192161"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400">
                <a:solidFill>
                  <a:srgbClr val="FF0000"/>
                </a:solidFill>
                <a:latin typeface="Calibri"/>
                <a:ea typeface="Calibri"/>
                <a:cs typeface="Calibri"/>
                <a:sym typeface="Calibri"/>
              </a:rPr>
              <a:t>‹#›</a:t>
            </a:fld>
            <a:endParaRPr sz="140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5"/>
          <p:cNvSpPr txBox="1"/>
          <p:nvPr>
            <p:ph type="title"/>
          </p:nvPr>
        </p:nvSpPr>
        <p:spPr>
          <a:xfrm>
            <a:off x="513735" y="136525"/>
            <a:ext cx="10515600" cy="43507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B0F0"/>
              </a:buClr>
              <a:buSzPct val="100000"/>
              <a:buFont typeface="Times New Roman"/>
              <a:buNone/>
            </a:pPr>
            <a:r>
              <a:rPr b="1" lang="en-US" sz="2800">
                <a:solidFill>
                  <a:srgbClr val="00B0F0"/>
                </a:solidFill>
                <a:latin typeface="Times New Roman"/>
                <a:ea typeface="Times New Roman"/>
                <a:cs typeface="Times New Roman"/>
                <a:sym typeface="Times New Roman"/>
              </a:rPr>
              <a:t>Contribution of this Research</a:t>
            </a:r>
            <a:endParaRPr/>
          </a:p>
        </p:txBody>
      </p:sp>
      <p:sp>
        <p:nvSpPr>
          <p:cNvPr id="391" name="Google Shape;391;p35"/>
          <p:cNvSpPr txBox="1"/>
          <p:nvPr>
            <p:ph idx="1" type="body"/>
          </p:nvPr>
        </p:nvSpPr>
        <p:spPr>
          <a:xfrm>
            <a:off x="250723" y="571602"/>
            <a:ext cx="11665974" cy="6134920"/>
          </a:xfrm>
          <a:prstGeom prst="rect">
            <a:avLst/>
          </a:prstGeom>
          <a:noFill/>
          <a:ln>
            <a:noFill/>
          </a:ln>
        </p:spPr>
        <p:txBody>
          <a:bodyPr anchorCtr="0" anchor="t" bIns="45700" lIns="91425" spcFirstLastPara="1" rIns="91425" wrap="square" tIns="45700">
            <a:normAutofit fontScale="32500" lnSpcReduction="20000"/>
          </a:bodyPr>
          <a:lstStyle/>
          <a:p>
            <a:pPr indent="0" lvl="0" marL="0" rtl="0" algn="just">
              <a:lnSpc>
                <a:spcPct val="170000"/>
              </a:lnSpc>
              <a:spcBef>
                <a:spcPts val="0"/>
              </a:spcBef>
              <a:spcAft>
                <a:spcPts val="0"/>
              </a:spcAft>
              <a:buClr>
                <a:srgbClr val="FF0000"/>
              </a:buClr>
              <a:buSzPct val="49896"/>
              <a:buNone/>
            </a:pPr>
            <a:r>
              <a:rPr lang="en-US" sz="7400">
                <a:solidFill>
                  <a:srgbClr val="000000"/>
                </a:solidFill>
                <a:latin typeface="Times New Roman"/>
                <a:ea typeface="Times New Roman"/>
                <a:cs typeface="Times New Roman"/>
                <a:sym typeface="Times New Roman"/>
              </a:rPr>
              <a:t>_____________________________________________________________________</a:t>
            </a:r>
            <a:endParaRPr/>
          </a:p>
          <a:p>
            <a:pPr indent="-228600" lvl="0" marL="228600" rtl="0" algn="just">
              <a:lnSpc>
                <a:spcPct val="170000"/>
              </a:lnSpc>
              <a:spcBef>
                <a:spcPts val="0"/>
              </a:spcBef>
              <a:spcAft>
                <a:spcPts val="0"/>
              </a:spcAft>
              <a:buClr>
                <a:srgbClr val="FF0000"/>
              </a:buClr>
              <a:buSzPct val="49896"/>
              <a:buFont typeface="Noto Sans Symbols"/>
              <a:buChar char="❖"/>
            </a:pPr>
            <a:r>
              <a:rPr lang="en-US" sz="7400">
                <a:solidFill>
                  <a:srgbClr val="000000"/>
                </a:solidFill>
                <a:latin typeface="Times New Roman"/>
                <a:ea typeface="Times New Roman"/>
                <a:cs typeface="Times New Roman"/>
                <a:sym typeface="Times New Roman"/>
              </a:rPr>
              <a:t>The designed LSTM, CNN, and Bi-LSTM; those are useful for the classification of Amharic word sense ambiguity problems.</a:t>
            </a:r>
            <a:endParaRPr/>
          </a:p>
          <a:p>
            <a:pPr indent="-228600" lvl="0" marL="228600" rtl="0" algn="just">
              <a:lnSpc>
                <a:spcPct val="170000"/>
              </a:lnSpc>
              <a:spcBef>
                <a:spcPts val="0"/>
              </a:spcBef>
              <a:spcAft>
                <a:spcPts val="0"/>
              </a:spcAft>
              <a:buClr>
                <a:srgbClr val="FF0000"/>
              </a:buClr>
              <a:buSzPct val="49896"/>
              <a:buFont typeface="Noto Sans Symbols"/>
              <a:buChar char="❖"/>
            </a:pPr>
            <a:r>
              <a:rPr lang="en-US" sz="7400">
                <a:solidFill>
                  <a:srgbClr val="000000"/>
                </a:solidFill>
                <a:latin typeface="Times New Roman"/>
                <a:ea typeface="Times New Roman"/>
                <a:cs typeface="Times New Roman"/>
                <a:sym typeface="Times New Roman"/>
              </a:rPr>
              <a:t>The study designed the first model an automatic Amharic word sense disambiguation model by deep learning approach by using WordNet.</a:t>
            </a:r>
            <a:endParaRPr/>
          </a:p>
          <a:p>
            <a:pPr indent="-228600" lvl="0" marL="228600" rtl="0" algn="just">
              <a:lnSpc>
                <a:spcPct val="170000"/>
              </a:lnSpc>
              <a:spcBef>
                <a:spcPts val="0"/>
              </a:spcBef>
              <a:spcAft>
                <a:spcPts val="0"/>
              </a:spcAft>
              <a:buClr>
                <a:srgbClr val="FF0000"/>
              </a:buClr>
              <a:buSzPct val="49896"/>
              <a:buFont typeface="Noto Sans Symbols"/>
              <a:buChar char="❖"/>
            </a:pPr>
            <a:r>
              <a:rPr lang="en-US" sz="7400">
                <a:solidFill>
                  <a:srgbClr val="000000"/>
                </a:solidFill>
                <a:latin typeface="Times New Roman"/>
                <a:ea typeface="Times New Roman"/>
                <a:cs typeface="Times New Roman"/>
                <a:sym typeface="Times New Roman"/>
              </a:rPr>
              <a:t>We could take into account antonymy, toponymy, holonomy, and homonymy relations or senses of ambiguous words not covered by the other researchers. </a:t>
            </a:r>
            <a:endParaRPr sz="7400">
              <a:solidFill>
                <a:srgbClr val="000000"/>
              </a:solidFill>
              <a:latin typeface="Times New Roman"/>
              <a:ea typeface="Times New Roman"/>
              <a:cs typeface="Times New Roman"/>
              <a:sym typeface="Times New Roman"/>
            </a:endParaRPr>
          </a:p>
          <a:p>
            <a:pPr indent="0" lvl="0" marL="0" rtl="0" algn="l">
              <a:lnSpc>
                <a:spcPct val="150000"/>
              </a:lnSpc>
              <a:spcBef>
                <a:spcPts val="1000"/>
              </a:spcBef>
              <a:spcAft>
                <a:spcPts val="0"/>
              </a:spcAft>
              <a:buClr>
                <a:srgbClr val="FF0000"/>
              </a:buClr>
              <a:buSzPct val="100000"/>
              <a:buNone/>
            </a:pPr>
            <a:br>
              <a:rPr lang="en-US" sz="4000">
                <a:latin typeface="Times New Roman"/>
                <a:ea typeface="Times New Roman"/>
                <a:cs typeface="Times New Roman"/>
                <a:sym typeface="Times New Roman"/>
              </a:rPr>
            </a:br>
            <a:endParaRPr sz="4000">
              <a:latin typeface="Times New Roman"/>
              <a:ea typeface="Times New Roman"/>
              <a:cs typeface="Times New Roman"/>
              <a:sym typeface="Times New Roman"/>
            </a:endParaRPr>
          </a:p>
        </p:txBody>
      </p:sp>
      <p:sp>
        <p:nvSpPr>
          <p:cNvPr id="392" name="Google Shape;39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393" name="Google Shape;393;p35"/>
          <p:cNvSpPr txBox="1"/>
          <p:nvPr>
            <p:ph idx="12" type="sldNum"/>
          </p:nvPr>
        </p:nvSpPr>
        <p:spPr>
          <a:xfrm>
            <a:off x="10146890" y="6356350"/>
            <a:ext cx="1206910"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600">
              <a:solidFill>
                <a:srgbClr val="FF000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6"/>
          <p:cNvSpPr txBox="1"/>
          <p:nvPr>
            <p:ph type="title"/>
          </p:nvPr>
        </p:nvSpPr>
        <p:spPr>
          <a:xfrm>
            <a:off x="838200" y="365125"/>
            <a:ext cx="10515600" cy="56402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B0F0"/>
              </a:buClr>
              <a:buSzPts val="3200"/>
              <a:buFont typeface="Calibri"/>
              <a:buNone/>
            </a:pPr>
            <a:r>
              <a:rPr b="1" lang="en-US" sz="3200">
                <a:solidFill>
                  <a:srgbClr val="00B0F0"/>
                </a:solidFill>
              </a:rPr>
              <a:t>...</a:t>
            </a:r>
            <a:r>
              <a:rPr b="1" lang="en-US" sz="3200">
                <a:solidFill>
                  <a:srgbClr val="00B0F0"/>
                </a:solidFill>
                <a:latin typeface="Times New Roman"/>
                <a:ea typeface="Times New Roman"/>
                <a:cs typeface="Times New Roman"/>
                <a:sym typeface="Times New Roman"/>
              </a:rPr>
              <a:t> Contribution of this Research</a:t>
            </a:r>
            <a:endParaRPr b="1" sz="3200">
              <a:solidFill>
                <a:srgbClr val="00B0F0"/>
              </a:solidFill>
            </a:endParaRPr>
          </a:p>
        </p:txBody>
      </p:sp>
      <p:sp>
        <p:nvSpPr>
          <p:cNvPr id="399" name="Google Shape;399;p36"/>
          <p:cNvSpPr txBox="1"/>
          <p:nvPr>
            <p:ph idx="1" type="body"/>
          </p:nvPr>
        </p:nvSpPr>
        <p:spPr>
          <a:xfrm>
            <a:off x="250723" y="929148"/>
            <a:ext cx="11488993" cy="52478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_______________________________________________________________</a:t>
            </a:r>
            <a:endParaRPr/>
          </a:p>
          <a:p>
            <a:pPr indent="-228600" lvl="0" marL="228600" marR="0" rtl="0" algn="just">
              <a:lnSpc>
                <a:spcPct val="170000"/>
              </a:lnSpc>
              <a:spcBef>
                <a:spcPts val="0"/>
              </a:spcBef>
              <a:spcAft>
                <a:spcPts val="0"/>
              </a:spcAft>
              <a:buClr>
                <a:srgbClr val="FF0000"/>
              </a:buClr>
              <a:buSzPts val="1200"/>
              <a:buFont typeface="Noto Sans Symbols"/>
              <a:buChar char="⮚"/>
            </a:pPr>
            <a:r>
              <a:rPr lang="en-US" sz="2400">
                <a:solidFill>
                  <a:srgbClr val="000000"/>
                </a:solidFill>
                <a:latin typeface="Times New Roman"/>
                <a:ea typeface="Times New Roman"/>
                <a:cs typeface="Times New Roman"/>
                <a:sym typeface="Times New Roman"/>
              </a:rPr>
              <a:t>Dataset was 2164 Amharic sentences and Amharic WordNet which has 460 glosses in 159 ambiguous words by itself because of containing 8-word relations that were useful for disambiguating ambiguous words for different NLP applications. </a:t>
            </a:r>
            <a:endParaRPr sz="2400">
              <a:solidFill>
                <a:srgbClr val="000000"/>
              </a:solidFill>
              <a:latin typeface="Times New Roman"/>
              <a:ea typeface="Times New Roman"/>
              <a:cs typeface="Times New Roman"/>
              <a:sym typeface="Times New Roman"/>
            </a:endParaRPr>
          </a:p>
          <a:p>
            <a:pPr indent="-228600" lvl="0" marL="228600" marR="0" rtl="0" algn="just">
              <a:lnSpc>
                <a:spcPct val="170000"/>
              </a:lnSpc>
              <a:spcBef>
                <a:spcPts val="0"/>
              </a:spcBef>
              <a:spcAft>
                <a:spcPts val="0"/>
              </a:spcAft>
              <a:buClr>
                <a:srgbClr val="FF0000"/>
              </a:buClr>
              <a:buSzPts val="1200"/>
              <a:buFont typeface="Noto Sans Symbols"/>
              <a:buChar char="⮚"/>
            </a:pPr>
            <a:r>
              <a:rPr lang="en-US" sz="2400">
                <a:solidFill>
                  <a:srgbClr val="000000"/>
                </a:solidFill>
                <a:latin typeface="Times New Roman"/>
                <a:ea typeface="Times New Roman"/>
                <a:cs typeface="Times New Roman"/>
                <a:sym typeface="Times New Roman"/>
              </a:rPr>
              <a:t>We developed word2vec word embedding models that handle the vocabulary and context by CBOW within a size of 29.8 MB 310,138 sentences within 378,797 vocabulary size as embedding layers.</a:t>
            </a:r>
            <a:endParaRPr sz="2400">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
        <p:nvSpPr>
          <p:cNvPr id="400" name="Google Shape;40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6/21/2021</a:t>
            </a:r>
            <a:endParaRPr/>
          </a:p>
        </p:txBody>
      </p:sp>
      <p:sp>
        <p:nvSpPr>
          <p:cNvPr id="401" name="Google Shape;401;p36"/>
          <p:cNvSpPr txBox="1"/>
          <p:nvPr>
            <p:ph idx="12" type="sldNum"/>
          </p:nvPr>
        </p:nvSpPr>
        <p:spPr>
          <a:xfrm>
            <a:off x="9468464" y="6356350"/>
            <a:ext cx="1885335"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rgbClr val="FF0000"/>
                </a:solidFill>
                <a:latin typeface="Calibri"/>
                <a:ea typeface="Calibri"/>
                <a:cs typeface="Calibri"/>
                <a:sym typeface="Calibri"/>
              </a:rPr>
              <a:t>‹#›</a:t>
            </a:fld>
            <a:endParaRPr b="1">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7"/>
          <p:cNvSpPr txBox="1"/>
          <p:nvPr>
            <p:ph idx="1" type="body"/>
          </p:nvPr>
        </p:nvSpPr>
        <p:spPr>
          <a:xfrm>
            <a:off x="204717" y="2138767"/>
            <a:ext cx="11723426" cy="3332136"/>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accent1"/>
              </a:buClr>
              <a:buSzPts val="16600"/>
              <a:buNone/>
            </a:pPr>
            <a:r>
              <a:rPr b="1" lang="en-US" sz="16600">
                <a:solidFill>
                  <a:schemeClr val="accent1"/>
                </a:solidFill>
                <a:latin typeface="Arial"/>
                <a:ea typeface="Arial"/>
                <a:cs typeface="Arial"/>
                <a:sym typeface="Arial"/>
              </a:rPr>
              <a:t>Thank you!!!</a:t>
            </a:r>
            <a:endParaRPr/>
          </a:p>
          <a:p>
            <a:pPr indent="0" lvl="0" marL="0" rtl="0" algn="l">
              <a:lnSpc>
                <a:spcPct val="90000"/>
              </a:lnSpc>
              <a:spcBef>
                <a:spcPts val="1000"/>
              </a:spcBef>
              <a:spcAft>
                <a:spcPts val="0"/>
              </a:spcAft>
              <a:buClr>
                <a:schemeClr val="dk1"/>
              </a:buClr>
              <a:buSzPts val="9600"/>
              <a:buNone/>
            </a:pPr>
            <a:r>
              <a:t/>
            </a:r>
            <a:endParaRPr b="1" sz="9600">
              <a:solidFill>
                <a:srgbClr val="262626"/>
              </a:solidFill>
              <a:latin typeface="Book Antiqua"/>
              <a:ea typeface="Book Antiqua"/>
              <a:cs typeface="Book Antiqua"/>
              <a:sym typeface="Book Antiqua"/>
            </a:endParaRPr>
          </a:p>
          <a:p>
            <a:pPr indent="0" lvl="0" marL="0" rtl="0" algn="l">
              <a:lnSpc>
                <a:spcPct val="90000"/>
              </a:lnSpc>
              <a:spcBef>
                <a:spcPts val="1000"/>
              </a:spcBef>
              <a:spcAft>
                <a:spcPts val="0"/>
              </a:spcAft>
              <a:buClr>
                <a:schemeClr val="dk1"/>
              </a:buClr>
              <a:buSzPts val="800"/>
              <a:buNone/>
            </a:pPr>
            <a:r>
              <a:t/>
            </a:r>
            <a:endParaRPr b="1" sz="800">
              <a:solidFill>
                <a:srgbClr val="262626"/>
              </a:solidFill>
              <a:latin typeface="Book Antiqua"/>
              <a:ea typeface="Book Antiqua"/>
              <a:cs typeface="Book Antiqua"/>
              <a:sym typeface="Book Antiqua"/>
            </a:endParaRPr>
          </a:p>
          <a:p>
            <a:pPr indent="0" lvl="0" marL="0" rtl="0" algn="l">
              <a:lnSpc>
                <a:spcPct val="90000"/>
              </a:lnSpc>
              <a:spcBef>
                <a:spcPts val="1000"/>
              </a:spcBef>
              <a:spcAft>
                <a:spcPts val="0"/>
              </a:spcAft>
              <a:buClr>
                <a:schemeClr val="dk1"/>
              </a:buClr>
              <a:buSzPts val="800"/>
              <a:buNone/>
            </a:pPr>
            <a:r>
              <a:t/>
            </a:r>
            <a:endParaRPr b="1" sz="800">
              <a:solidFill>
                <a:srgbClr val="262626"/>
              </a:solidFill>
              <a:latin typeface="Times New Roman"/>
              <a:ea typeface="Times New Roman"/>
              <a:cs typeface="Times New Roman"/>
              <a:sym typeface="Times New Roman"/>
            </a:endParaRPr>
          </a:p>
          <a:p>
            <a:pPr indent="0" lvl="0" marL="0" rtl="0" algn="r">
              <a:lnSpc>
                <a:spcPct val="90000"/>
              </a:lnSpc>
              <a:spcBef>
                <a:spcPts val="1000"/>
              </a:spcBef>
              <a:spcAft>
                <a:spcPts val="0"/>
              </a:spcAft>
              <a:buClr>
                <a:schemeClr val="dk1"/>
              </a:buClr>
              <a:buSzPts val="2800"/>
              <a:buNone/>
            </a:pPr>
            <a:r>
              <a:t/>
            </a:r>
            <a:endParaRPr b="1" sz="2800">
              <a:solidFill>
                <a:schemeClr val="accent1"/>
              </a:solidFill>
              <a:latin typeface="Book Antiqua"/>
              <a:ea typeface="Book Antiqua"/>
              <a:cs typeface="Book Antiqua"/>
              <a:sym typeface="Book Antiqua"/>
            </a:endParaRPr>
          </a:p>
          <a:p>
            <a:pPr indent="0" lvl="0" marL="0" rtl="0" algn="r">
              <a:lnSpc>
                <a:spcPct val="90000"/>
              </a:lnSpc>
              <a:spcBef>
                <a:spcPts val="1000"/>
              </a:spcBef>
              <a:spcAft>
                <a:spcPts val="0"/>
              </a:spcAft>
              <a:buClr>
                <a:schemeClr val="dk1"/>
              </a:buClr>
              <a:buSzPts val="2800"/>
              <a:buNone/>
            </a:pPr>
            <a:r>
              <a:t/>
            </a:r>
            <a:endParaRPr b="1" sz="2800">
              <a:solidFill>
                <a:schemeClr val="accent1"/>
              </a:solidFill>
              <a:latin typeface="Book Antiqua"/>
              <a:ea typeface="Book Antiqua"/>
              <a:cs typeface="Book Antiqua"/>
              <a:sym typeface="Book Antiqua"/>
            </a:endParaRPr>
          </a:p>
          <a:p>
            <a:pPr indent="0" lvl="0" marL="0" rtl="0" algn="l">
              <a:lnSpc>
                <a:spcPct val="90000"/>
              </a:lnSpc>
              <a:spcBef>
                <a:spcPts val="1000"/>
              </a:spcBef>
              <a:spcAft>
                <a:spcPts val="0"/>
              </a:spcAft>
              <a:buClr>
                <a:schemeClr val="dk1"/>
              </a:buClr>
              <a:buSzPts val="2800"/>
              <a:buNone/>
            </a:pPr>
            <a:r>
              <a:t/>
            </a:r>
            <a:endParaRPr/>
          </a:p>
        </p:txBody>
      </p:sp>
      <p:sp>
        <p:nvSpPr>
          <p:cNvPr id="407" name="Google Shape;40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6/21/2021</a:t>
            </a:r>
            <a:endParaRPr b="1"/>
          </a:p>
        </p:txBody>
      </p:sp>
      <p:sp>
        <p:nvSpPr>
          <p:cNvPr id="408" name="Google Shape;408;p37"/>
          <p:cNvSpPr txBox="1"/>
          <p:nvPr>
            <p:ph idx="12" type="sldNum"/>
          </p:nvPr>
        </p:nvSpPr>
        <p:spPr>
          <a:xfrm>
            <a:off x="10156874" y="6356350"/>
            <a:ext cx="1196926" cy="3651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latin typeface="Times New Roman"/>
                <a:ea typeface="Times New Roman"/>
                <a:cs typeface="Times New Roman"/>
                <a:sym typeface="Times New Roman"/>
              </a:rPr>
              <a:t>‹#›</a:t>
            </a:fld>
            <a:endParaRPr b="1" sz="1100">
              <a:solidFill>
                <a:srgbClr val="FF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2021-03-18T06:58:22Z</dcterms:created>
  <dc:creator>Dereje Senay</dc:creator>
</cp:coreProperties>
</file>